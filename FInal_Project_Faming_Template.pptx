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C6FE3A-96E9-4959-B13E-CEA14422DB0E}"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F9AF1A19-CE74-4AB6-BF36-53353AB82AFA}">
      <dgm:prSet/>
      <dgm:spPr/>
      <dgm:t>
        <a:bodyPr/>
        <a:lstStyle/>
        <a:p>
          <a:pPr>
            <a:lnSpc>
              <a:spcPct val="100000"/>
            </a:lnSpc>
          </a:pPr>
          <a:r>
            <a:rPr lang="en-US" b="1" i="0" baseline="0" dirty="0"/>
            <a:t>Password Protection:</a:t>
          </a:r>
          <a:r>
            <a:rPr lang="en-US" b="0" i="0" baseline="0" dirty="0"/>
            <a:t> My website hashes all passwords with </a:t>
          </a:r>
          <a:r>
            <a:rPr lang="en-US" b="0" i="0" baseline="0" dirty="0" err="1"/>
            <a:t>Bcrypt</a:t>
          </a:r>
          <a:r>
            <a:rPr lang="en-US" b="0" i="0" baseline="0" dirty="0"/>
            <a:t>, so if a password is wrong or stolen, a hacker cannot see the real password.</a:t>
          </a:r>
          <a:endParaRPr lang="en-US" dirty="0"/>
        </a:p>
      </dgm:t>
    </dgm:pt>
    <dgm:pt modelId="{96C45118-028F-45F5-83B3-E9EE5AB96CFF}" type="parTrans" cxnId="{2F5F6549-7010-474C-97C4-A45929F0018E}">
      <dgm:prSet/>
      <dgm:spPr/>
      <dgm:t>
        <a:bodyPr/>
        <a:lstStyle/>
        <a:p>
          <a:endParaRPr lang="en-US"/>
        </a:p>
      </dgm:t>
    </dgm:pt>
    <dgm:pt modelId="{68649DEE-510C-43E5-959F-CDF2230D0873}" type="sibTrans" cxnId="{2F5F6549-7010-474C-97C4-A45929F0018E}">
      <dgm:prSet/>
      <dgm:spPr/>
      <dgm:t>
        <a:bodyPr/>
        <a:lstStyle/>
        <a:p>
          <a:endParaRPr lang="en-US"/>
        </a:p>
      </dgm:t>
    </dgm:pt>
    <dgm:pt modelId="{3FE90420-8ABE-411F-8C09-3041CB4DACB6}">
      <dgm:prSet/>
      <dgm:spPr/>
      <dgm:t>
        <a:bodyPr/>
        <a:lstStyle/>
        <a:p>
          <a:pPr>
            <a:lnSpc>
              <a:spcPct val="100000"/>
            </a:lnSpc>
          </a:pPr>
          <a:r>
            <a:rPr lang="en-US" b="1" i="0" baseline="0"/>
            <a:t>Access Control:</a:t>
          </a:r>
          <a:r>
            <a:rPr lang="en-US" b="0" i="0" baseline="0"/>
            <a:t> Only verified users with the correct role (Student or Admin) can access their pages; if you’re not authorized, the system redirects you, preventing access to others’ data.</a:t>
          </a:r>
          <a:endParaRPr lang="en-US"/>
        </a:p>
      </dgm:t>
    </dgm:pt>
    <dgm:pt modelId="{D169B432-7723-48D7-9A2B-CD2000C40F40}" type="parTrans" cxnId="{60EA3C90-0D8B-47BD-843F-B4BE294D005D}">
      <dgm:prSet/>
      <dgm:spPr/>
      <dgm:t>
        <a:bodyPr/>
        <a:lstStyle/>
        <a:p>
          <a:endParaRPr lang="en-US"/>
        </a:p>
      </dgm:t>
    </dgm:pt>
    <dgm:pt modelId="{C1CCC398-29A3-496C-A4BD-C06A06750BB6}" type="sibTrans" cxnId="{60EA3C90-0D8B-47BD-843F-B4BE294D005D}">
      <dgm:prSet/>
      <dgm:spPr/>
      <dgm:t>
        <a:bodyPr/>
        <a:lstStyle/>
        <a:p>
          <a:endParaRPr lang="en-US"/>
        </a:p>
      </dgm:t>
    </dgm:pt>
    <dgm:pt modelId="{E65AB79C-F3C1-4B13-8371-96933C9A23B1}">
      <dgm:prSet/>
      <dgm:spPr/>
      <dgm:t>
        <a:bodyPr/>
        <a:lstStyle/>
        <a:p>
          <a:pPr>
            <a:lnSpc>
              <a:spcPct val="100000"/>
            </a:lnSpc>
          </a:pPr>
          <a:r>
            <a:rPr lang="en-US" b="1" i="0" baseline="0"/>
            <a:t>SQL Injection Prevention:</a:t>
          </a:r>
          <a:r>
            <a:rPr lang="en-US" b="0" i="0" baseline="0"/>
            <a:t> All user input is separated from SQL commands using prepared statements, so a hacker cannot type commands to view or delete student records.</a:t>
          </a:r>
          <a:endParaRPr lang="en-US"/>
        </a:p>
      </dgm:t>
    </dgm:pt>
    <dgm:pt modelId="{E9696D59-A122-428A-8C0B-DC0C70313881}" type="parTrans" cxnId="{E9C86255-27C1-43BE-9B9C-95C1A5BF65C5}">
      <dgm:prSet/>
      <dgm:spPr/>
      <dgm:t>
        <a:bodyPr/>
        <a:lstStyle/>
        <a:p>
          <a:endParaRPr lang="en-US"/>
        </a:p>
      </dgm:t>
    </dgm:pt>
    <dgm:pt modelId="{91B7BBDE-B065-401D-A06F-236AC5BCB402}" type="sibTrans" cxnId="{E9C86255-27C1-43BE-9B9C-95C1A5BF65C5}">
      <dgm:prSet/>
      <dgm:spPr/>
      <dgm:t>
        <a:bodyPr/>
        <a:lstStyle/>
        <a:p>
          <a:endParaRPr lang="en-US"/>
        </a:p>
      </dgm:t>
    </dgm:pt>
    <dgm:pt modelId="{E1FDA5DE-CF21-486F-A3A0-5FB2DE6F4A5A}">
      <dgm:prSet/>
      <dgm:spPr/>
      <dgm:t>
        <a:bodyPr/>
        <a:lstStyle/>
        <a:p>
          <a:pPr>
            <a:lnSpc>
              <a:spcPct val="100000"/>
            </a:lnSpc>
          </a:pPr>
          <a:r>
            <a:rPr lang="en-US" b="1" i="0" baseline="0"/>
            <a:t>Session &amp; Token Security:</a:t>
          </a:r>
          <a:r>
            <a:rPr lang="en-US" b="0" i="0" baseline="0"/>
            <a:t> Password resets and sessions use unique, expiring tokens, ensuring that hackers cannot reuse old links or hijack logged-in accounts</a:t>
          </a:r>
          <a:endParaRPr lang="en-US"/>
        </a:p>
      </dgm:t>
    </dgm:pt>
    <dgm:pt modelId="{CEB0710D-5479-4E03-B2E9-5E7F71FE5D51}" type="parTrans" cxnId="{F1CAEF5A-B04F-4DA8-9FAD-9291C7601D6F}">
      <dgm:prSet/>
      <dgm:spPr/>
      <dgm:t>
        <a:bodyPr/>
        <a:lstStyle/>
        <a:p>
          <a:endParaRPr lang="en-US"/>
        </a:p>
      </dgm:t>
    </dgm:pt>
    <dgm:pt modelId="{81F6BF56-7C6D-4CD9-B9B5-A5B226B21089}" type="sibTrans" cxnId="{F1CAEF5A-B04F-4DA8-9FAD-9291C7601D6F}">
      <dgm:prSet/>
      <dgm:spPr/>
      <dgm:t>
        <a:bodyPr/>
        <a:lstStyle/>
        <a:p>
          <a:endParaRPr lang="en-US"/>
        </a:p>
      </dgm:t>
    </dgm:pt>
    <dgm:pt modelId="{50934BC2-CF5F-4DF7-8067-8345F9C6D83E}" type="pres">
      <dgm:prSet presAssocID="{5BC6FE3A-96E9-4959-B13E-CEA14422DB0E}" presName="root" presStyleCnt="0">
        <dgm:presLayoutVars>
          <dgm:dir/>
          <dgm:resizeHandles val="exact"/>
        </dgm:presLayoutVars>
      </dgm:prSet>
      <dgm:spPr/>
    </dgm:pt>
    <dgm:pt modelId="{72FC3F0C-174F-41C9-B8A0-9E474ECE643E}" type="pres">
      <dgm:prSet presAssocID="{F9AF1A19-CE74-4AB6-BF36-53353AB82AFA}" presName="compNode" presStyleCnt="0"/>
      <dgm:spPr/>
    </dgm:pt>
    <dgm:pt modelId="{55049258-38CB-46DB-AD2A-410EF56EE4EA}" type="pres">
      <dgm:prSet presAssocID="{F9AF1A19-CE74-4AB6-BF36-53353AB82AFA}" presName="bgRect" presStyleLbl="bgShp" presStyleIdx="0" presStyleCnt="4"/>
      <dgm:spPr/>
    </dgm:pt>
    <dgm:pt modelId="{3CF06DB8-1A0A-4BD2-B356-F225137A394A}" type="pres">
      <dgm:prSet presAssocID="{F9AF1A19-CE74-4AB6-BF36-53353AB82AF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77762460-6100-432D-8B4F-E643D48BBDB4}" type="pres">
      <dgm:prSet presAssocID="{F9AF1A19-CE74-4AB6-BF36-53353AB82AFA}" presName="spaceRect" presStyleCnt="0"/>
      <dgm:spPr/>
    </dgm:pt>
    <dgm:pt modelId="{4F23AD86-9563-44BF-BD9F-75B5668DC800}" type="pres">
      <dgm:prSet presAssocID="{F9AF1A19-CE74-4AB6-BF36-53353AB82AFA}" presName="parTx" presStyleLbl="revTx" presStyleIdx="0" presStyleCnt="4">
        <dgm:presLayoutVars>
          <dgm:chMax val="0"/>
          <dgm:chPref val="0"/>
        </dgm:presLayoutVars>
      </dgm:prSet>
      <dgm:spPr/>
    </dgm:pt>
    <dgm:pt modelId="{D1335771-13B9-4580-BD5B-A6D40C64F223}" type="pres">
      <dgm:prSet presAssocID="{68649DEE-510C-43E5-959F-CDF2230D0873}" presName="sibTrans" presStyleCnt="0"/>
      <dgm:spPr/>
    </dgm:pt>
    <dgm:pt modelId="{D0690209-A76E-4805-B1E8-2BC6EF639D17}" type="pres">
      <dgm:prSet presAssocID="{3FE90420-8ABE-411F-8C09-3041CB4DACB6}" presName="compNode" presStyleCnt="0"/>
      <dgm:spPr/>
    </dgm:pt>
    <dgm:pt modelId="{87C5A557-9B0A-4710-B9B8-3E88BA370E57}" type="pres">
      <dgm:prSet presAssocID="{3FE90420-8ABE-411F-8C09-3041CB4DACB6}" presName="bgRect" presStyleLbl="bgShp" presStyleIdx="1" presStyleCnt="4"/>
      <dgm:spPr/>
    </dgm:pt>
    <dgm:pt modelId="{08FB006C-5007-453D-AB20-1A3139C61958}" type="pres">
      <dgm:prSet presAssocID="{3FE90420-8ABE-411F-8C09-3041CB4DACB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25CB86A2-BFDA-411F-AA0A-37B08FC8C028}" type="pres">
      <dgm:prSet presAssocID="{3FE90420-8ABE-411F-8C09-3041CB4DACB6}" presName="spaceRect" presStyleCnt="0"/>
      <dgm:spPr/>
    </dgm:pt>
    <dgm:pt modelId="{EE03DD4C-CF50-4894-BA89-B4C587B21286}" type="pres">
      <dgm:prSet presAssocID="{3FE90420-8ABE-411F-8C09-3041CB4DACB6}" presName="parTx" presStyleLbl="revTx" presStyleIdx="1" presStyleCnt="4">
        <dgm:presLayoutVars>
          <dgm:chMax val="0"/>
          <dgm:chPref val="0"/>
        </dgm:presLayoutVars>
      </dgm:prSet>
      <dgm:spPr/>
    </dgm:pt>
    <dgm:pt modelId="{64BEBCA3-D2A8-45C0-A06A-5F1A7F09111E}" type="pres">
      <dgm:prSet presAssocID="{C1CCC398-29A3-496C-A4BD-C06A06750BB6}" presName="sibTrans" presStyleCnt="0"/>
      <dgm:spPr/>
    </dgm:pt>
    <dgm:pt modelId="{C468C336-6C44-402F-9BD6-E0D2E55CD184}" type="pres">
      <dgm:prSet presAssocID="{E65AB79C-F3C1-4B13-8371-96933C9A23B1}" presName="compNode" presStyleCnt="0"/>
      <dgm:spPr/>
    </dgm:pt>
    <dgm:pt modelId="{4866EB08-7F12-4E0E-840A-0DF5FC06C72C}" type="pres">
      <dgm:prSet presAssocID="{E65AB79C-F3C1-4B13-8371-96933C9A23B1}" presName="bgRect" presStyleLbl="bgShp" presStyleIdx="2" presStyleCnt="4"/>
      <dgm:spPr/>
    </dgm:pt>
    <dgm:pt modelId="{17700A28-3CC1-4A6B-BBC6-AA7CC453226D}" type="pres">
      <dgm:prSet presAssocID="{E65AB79C-F3C1-4B13-8371-96933C9A23B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86577F49-D30D-48BD-95EE-FD64C2251DB5}" type="pres">
      <dgm:prSet presAssocID="{E65AB79C-F3C1-4B13-8371-96933C9A23B1}" presName="spaceRect" presStyleCnt="0"/>
      <dgm:spPr/>
    </dgm:pt>
    <dgm:pt modelId="{2B8B2305-C4EB-4EC6-978C-36476A5CA42D}" type="pres">
      <dgm:prSet presAssocID="{E65AB79C-F3C1-4B13-8371-96933C9A23B1}" presName="parTx" presStyleLbl="revTx" presStyleIdx="2" presStyleCnt="4">
        <dgm:presLayoutVars>
          <dgm:chMax val="0"/>
          <dgm:chPref val="0"/>
        </dgm:presLayoutVars>
      </dgm:prSet>
      <dgm:spPr/>
    </dgm:pt>
    <dgm:pt modelId="{069DD4F6-4BE4-45FB-B912-98782BE18170}" type="pres">
      <dgm:prSet presAssocID="{91B7BBDE-B065-401D-A06F-236AC5BCB402}" presName="sibTrans" presStyleCnt="0"/>
      <dgm:spPr/>
    </dgm:pt>
    <dgm:pt modelId="{DBA29DC7-ED8B-446A-AC0E-A15C0A7F006E}" type="pres">
      <dgm:prSet presAssocID="{E1FDA5DE-CF21-486F-A3A0-5FB2DE6F4A5A}" presName="compNode" presStyleCnt="0"/>
      <dgm:spPr/>
    </dgm:pt>
    <dgm:pt modelId="{F460680D-6D1D-4DAE-880A-22DDA5D2ED80}" type="pres">
      <dgm:prSet presAssocID="{E1FDA5DE-CF21-486F-A3A0-5FB2DE6F4A5A}" presName="bgRect" presStyleLbl="bgShp" presStyleIdx="3" presStyleCnt="4"/>
      <dgm:spPr/>
    </dgm:pt>
    <dgm:pt modelId="{EC2B1868-6FB7-4933-9B99-B13189BD7C69}" type="pres">
      <dgm:prSet presAssocID="{E1FDA5DE-CF21-486F-A3A0-5FB2DE6F4A5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6F299AFD-A1C3-4B00-A4E7-68DE2490BE1F}" type="pres">
      <dgm:prSet presAssocID="{E1FDA5DE-CF21-486F-A3A0-5FB2DE6F4A5A}" presName="spaceRect" presStyleCnt="0"/>
      <dgm:spPr/>
    </dgm:pt>
    <dgm:pt modelId="{D4E2114D-8EA5-4787-AD21-7DAAAA89E254}" type="pres">
      <dgm:prSet presAssocID="{E1FDA5DE-CF21-486F-A3A0-5FB2DE6F4A5A}" presName="parTx" presStyleLbl="revTx" presStyleIdx="3" presStyleCnt="4">
        <dgm:presLayoutVars>
          <dgm:chMax val="0"/>
          <dgm:chPref val="0"/>
        </dgm:presLayoutVars>
      </dgm:prSet>
      <dgm:spPr/>
    </dgm:pt>
  </dgm:ptLst>
  <dgm:cxnLst>
    <dgm:cxn modelId="{543DAD65-6AE6-493D-AB4D-532BBE9DB291}" type="presOf" srcId="{E65AB79C-F3C1-4B13-8371-96933C9A23B1}" destId="{2B8B2305-C4EB-4EC6-978C-36476A5CA42D}" srcOrd="0" destOrd="0" presId="urn:microsoft.com/office/officeart/2018/2/layout/IconVerticalSolidList"/>
    <dgm:cxn modelId="{2F5F6549-7010-474C-97C4-A45929F0018E}" srcId="{5BC6FE3A-96E9-4959-B13E-CEA14422DB0E}" destId="{F9AF1A19-CE74-4AB6-BF36-53353AB82AFA}" srcOrd="0" destOrd="0" parTransId="{96C45118-028F-45F5-83B3-E9EE5AB96CFF}" sibTransId="{68649DEE-510C-43E5-959F-CDF2230D0873}"/>
    <dgm:cxn modelId="{86104650-F4F1-403E-A1C1-02E9BCB247A7}" type="presOf" srcId="{5BC6FE3A-96E9-4959-B13E-CEA14422DB0E}" destId="{50934BC2-CF5F-4DF7-8067-8345F9C6D83E}" srcOrd="0" destOrd="0" presId="urn:microsoft.com/office/officeart/2018/2/layout/IconVerticalSolidList"/>
    <dgm:cxn modelId="{E9C86255-27C1-43BE-9B9C-95C1A5BF65C5}" srcId="{5BC6FE3A-96E9-4959-B13E-CEA14422DB0E}" destId="{E65AB79C-F3C1-4B13-8371-96933C9A23B1}" srcOrd="2" destOrd="0" parTransId="{E9696D59-A122-428A-8C0B-DC0C70313881}" sibTransId="{91B7BBDE-B065-401D-A06F-236AC5BCB402}"/>
    <dgm:cxn modelId="{F1CAEF5A-B04F-4DA8-9FAD-9291C7601D6F}" srcId="{5BC6FE3A-96E9-4959-B13E-CEA14422DB0E}" destId="{E1FDA5DE-CF21-486F-A3A0-5FB2DE6F4A5A}" srcOrd="3" destOrd="0" parTransId="{CEB0710D-5479-4E03-B2E9-5E7F71FE5D51}" sibTransId="{81F6BF56-7C6D-4CD9-B9B5-A5B226B21089}"/>
    <dgm:cxn modelId="{60EA3C90-0D8B-47BD-843F-B4BE294D005D}" srcId="{5BC6FE3A-96E9-4959-B13E-CEA14422DB0E}" destId="{3FE90420-8ABE-411F-8C09-3041CB4DACB6}" srcOrd="1" destOrd="0" parTransId="{D169B432-7723-48D7-9A2B-CD2000C40F40}" sibTransId="{C1CCC398-29A3-496C-A4BD-C06A06750BB6}"/>
    <dgm:cxn modelId="{F1712DAF-CDF1-4A7F-8027-888CB29CD414}" type="presOf" srcId="{E1FDA5DE-CF21-486F-A3A0-5FB2DE6F4A5A}" destId="{D4E2114D-8EA5-4787-AD21-7DAAAA89E254}" srcOrd="0" destOrd="0" presId="urn:microsoft.com/office/officeart/2018/2/layout/IconVerticalSolidList"/>
    <dgm:cxn modelId="{F1BBF8BE-ACB7-4C5D-9E41-1AE8F71B6F07}" type="presOf" srcId="{3FE90420-8ABE-411F-8C09-3041CB4DACB6}" destId="{EE03DD4C-CF50-4894-BA89-B4C587B21286}" srcOrd="0" destOrd="0" presId="urn:microsoft.com/office/officeart/2018/2/layout/IconVerticalSolidList"/>
    <dgm:cxn modelId="{270637C8-0C04-4E18-98CC-61219DDE3158}" type="presOf" srcId="{F9AF1A19-CE74-4AB6-BF36-53353AB82AFA}" destId="{4F23AD86-9563-44BF-BD9F-75B5668DC800}" srcOrd="0" destOrd="0" presId="urn:microsoft.com/office/officeart/2018/2/layout/IconVerticalSolidList"/>
    <dgm:cxn modelId="{7AD73AE4-9220-4775-8ECF-0E244FEB2195}" type="presParOf" srcId="{50934BC2-CF5F-4DF7-8067-8345F9C6D83E}" destId="{72FC3F0C-174F-41C9-B8A0-9E474ECE643E}" srcOrd="0" destOrd="0" presId="urn:microsoft.com/office/officeart/2018/2/layout/IconVerticalSolidList"/>
    <dgm:cxn modelId="{F1656B1E-F56A-425C-B274-57C1B3835105}" type="presParOf" srcId="{72FC3F0C-174F-41C9-B8A0-9E474ECE643E}" destId="{55049258-38CB-46DB-AD2A-410EF56EE4EA}" srcOrd="0" destOrd="0" presId="urn:microsoft.com/office/officeart/2018/2/layout/IconVerticalSolidList"/>
    <dgm:cxn modelId="{663C30D1-467D-4044-AB66-121C8A79D893}" type="presParOf" srcId="{72FC3F0C-174F-41C9-B8A0-9E474ECE643E}" destId="{3CF06DB8-1A0A-4BD2-B356-F225137A394A}" srcOrd="1" destOrd="0" presId="urn:microsoft.com/office/officeart/2018/2/layout/IconVerticalSolidList"/>
    <dgm:cxn modelId="{BB81CB38-3683-456B-A549-A2D0F1DA8E23}" type="presParOf" srcId="{72FC3F0C-174F-41C9-B8A0-9E474ECE643E}" destId="{77762460-6100-432D-8B4F-E643D48BBDB4}" srcOrd="2" destOrd="0" presId="urn:microsoft.com/office/officeart/2018/2/layout/IconVerticalSolidList"/>
    <dgm:cxn modelId="{4B02FBC3-5759-4CF3-8227-D25CE44AADE9}" type="presParOf" srcId="{72FC3F0C-174F-41C9-B8A0-9E474ECE643E}" destId="{4F23AD86-9563-44BF-BD9F-75B5668DC800}" srcOrd="3" destOrd="0" presId="urn:microsoft.com/office/officeart/2018/2/layout/IconVerticalSolidList"/>
    <dgm:cxn modelId="{842F4529-A6B5-4FCA-9000-A2576BAAF04F}" type="presParOf" srcId="{50934BC2-CF5F-4DF7-8067-8345F9C6D83E}" destId="{D1335771-13B9-4580-BD5B-A6D40C64F223}" srcOrd="1" destOrd="0" presId="urn:microsoft.com/office/officeart/2018/2/layout/IconVerticalSolidList"/>
    <dgm:cxn modelId="{8C881AEC-5419-49BA-86FA-A72D010A1CBF}" type="presParOf" srcId="{50934BC2-CF5F-4DF7-8067-8345F9C6D83E}" destId="{D0690209-A76E-4805-B1E8-2BC6EF639D17}" srcOrd="2" destOrd="0" presId="urn:microsoft.com/office/officeart/2018/2/layout/IconVerticalSolidList"/>
    <dgm:cxn modelId="{0C839BC2-9A08-489F-87C0-0FBF7F661EC9}" type="presParOf" srcId="{D0690209-A76E-4805-B1E8-2BC6EF639D17}" destId="{87C5A557-9B0A-4710-B9B8-3E88BA370E57}" srcOrd="0" destOrd="0" presId="urn:microsoft.com/office/officeart/2018/2/layout/IconVerticalSolidList"/>
    <dgm:cxn modelId="{31C64098-4465-4330-A7DE-89F3DB591E62}" type="presParOf" srcId="{D0690209-A76E-4805-B1E8-2BC6EF639D17}" destId="{08FB006C-5007-453D-AB20-1A3139C61958}" srcOrd="1" destOrd="0" presId="urn:microsoft.com/office/officeart/2018/2/layout/IconVerticalSolidList"/>
    <dgm:cxn modelId="{40C97A1A-334F-4579-AECA-E77616436883}" type="presParOf" srcId="{D0690209-A76E-4805-B1E8-2BC6EF639D17}" destId="{25CB86A2-BFDA-411F-AA0A-37B08FC8C028}" srcOrd="2" destOrd="0" presId="urn:microsoft.com/office/officeart/2018/2/layout/IconVerticalSolidList"/>
    <dgm:cxn modelId="{7BDC41A5-6F41-4CE2-8BA2-2CA99585DAF7}" type="presParOf" srcId="{D0690209-A76E-4805-B1E8-2BC6EF639D17}" destId="{EE03DD4C-CF50-4894-BA89-B4C587B21286}" srcOrd="3" destOrd="0" presId="urn:microsoft.com/office/officeart/2018/2/layout/IconVerticalSolidList"/>
    <dgm:cxn modelId="{BD15CF4F-E400-4500-8040-4E9BC2EE4D5D}" type="presParOf" srcId="{50934BC2-CF5F-4DF7-8067-8345F9C6D83E}" destId="{64BEBCA3-D2A8-45C0-A06A-5F1A7F09111E}" srcOrd="3" destOrd="0" presId="urn:microsoft.com/office/officeart/2018/2/layout/IconVerticalSolidList"/>
    <dgm:cxn modelId="{08A9D3AF-01A1-4F13-B377-297E06F71C68}" type="presParOf" srcId="{50934BC2-CF5F-4DF7-8067-8345F9C6D83E}" destId="{C468C336-6C44-402F-9BD6-E0D2E55CD184}" srcOrd="4" destOrd="0" presId="urn:microsoft.com/office/officeart/2018/2/layout/IconVerticalSolidList"/>
    <dgm:cxn modelId="{0284ACB6-D6F4-4AD6-B0D7-2A1C1560AD69}" type="presParOf" srcId="{C468C336-6C44-402F-9BD6-E0D2E55CD184}" destId="{4866EB08-7F12-4E0E-840A-0DF5FC06C72C}" srcOrd="0" destOrd="0" presId="urn:microsoft.com/office/officeart/2018/2/layout/IconVerticalSolidList"/>
    <dgm:cxn modelId="{FD2E3955-B528-4CDA-826C-741A33A0CCB9}" type="presParOf" srcId="{C468C336-6C44-402F-9BD6-E0D2E55CD184}" destId="{17700A28-3CC1-4A6B-BBC6-AA7CC453226D}" srcOrd="1" destOrd="0" presId="urn:microsoft.com/office/officeart/2018/2/layout/IconVerticalSolidList"/>
    <dgm:cxn modelId="{A522C78A-2945-4049-B00A-72FB26472F12}" type="presParOf" srcId="{C468C336-6C44-402F-9BD6-E0D2E55CD184}" destId="{86577F49-D30D-48BD-95EE-FD64C2251DB5}" srcOrd="2" destOrd="0" presId="urn:microsoft.com/office/officeart/2018/2/layout/IconVerticalSolidList"/>
    <dgm:cxn modelId="{0F0330A3-5061-4E13-85B3-1F7BDC7071C1}" type="presParOf" srcId="{C468C336-6C44-402F-9BD6-E0D2E55CD184}" destId="{2B8B2305-C4EB-4EC6-978C-36476A5CA42D}" srcOrd="3" destOrd="0" presId="urn:microsoft.com/office/officeart/2018/2/layout/IconVerticalSolidList"/>
    <dgm:cxn modelId="{1EA51D27-B31C-4707-A39B-49A4777A0865}" type="presParOf" srcId="{50934BC2-CF5F-4DF7-8067-8345F9C6D83E}" destId="{069DD4F6-4BE4-45FB-B912-98782BE18170}" srcOrd="5" destOrd="0" presId="urn:microsoft.com/office/officeart/2018/2/layout/IconVerticalSolidList"/>
    <dgm:cxn modelId="{14AC5607-631B-4ADC-BE5E-6FD4CBA4EC1E}" type="presParOf" srcId="{50934BC2-CF5F-4DF7-8067-8345F9C6D83E}" destId="{DBA29DC7-ED8B-446A-AC0E-A15C0A7F006E}" srcOrd="6" destOrd="0" presId="urn:microsoft.com/office/officeart/2018/2/layout/IconVerticalSolidList"/>
    <dgm:cxn modelId="{5538C788-30EC-4C90-82B8-9BF9A5E1BB99}" type="presParOf" srcId="{DBA29DC7-ED8B-446A-AC0E-A15C0A7F006E}" destId="{F460680D-6D1D-4DAE-880A-22DDA5D2ED80}" srcOrd="0" destOrd="0" presId="urn:microsoft.com/office/officeart/2018/2/layout/IconVerticalSolidList"/>
    <dgm:cxn modelId="{CF3CF189-88A6-4B34-94EB-C7D4B4DEA34A}" type="presParOf" srcId="{DBA29DC7-ED8B-446A-AC0E-A15C0A7F006E}" destId="{EC2B1868-6FB7-4933-9B99-B13189BD7C69}" srcOrd="1" destOrd="0" presId="urn:microsoft.com/office/officeart/2018/2/layout/IconVerticalSolidList"/>
    <dgm:cxn modelId="{E95A91EA-E2E4-4F8E-B72A-C94CFD94FCC7}" type="presParOf" srcId="{DBA29DC7-ED8B-446A-AC0E-A15C0A7F006E}" destId="{6F299AFD-A1C3-4B00-A4E7-68DE2490BE1F}" srcOrd="2" destOrd="0" presId="urn:microsoft.com/office/officeart/2018/2/layout/IconVerticalSolidList"/>
    <dgm:cxn modelId="{2D774567-48DA-4A35-8B2B-FD7D064D130B}" type="presParOf" srcId="{DBA29DC7-ED8B-446A-AC0E-A15C0A7F006E}" destId="{D4E2114D-8EA5-4787-AD21-7DAAAA89E25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49258-38CB-46DB-AD2A-410EF56EE4EA}">
      <dsp:nvSpPr>
        <dsp:cNvPr id="0" name=""/>
        <dsp:cNvSpPr/>
      </dsp:nvSpPr>
      <dsp:spPr>
        <a:xfrm>
          <a:off x="0" y="1805"/>
          <a:ext cx="10515600" cy="91531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F06DB8-1A0A-4BD2-B356-F225137A394A}">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23AD86-9563-44BF-BD9F-75B5668DC800}">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100000"/>
            </a:lnSpc>
            <a:spcBef>
              <a:spcPct val="0"/>
            </a:spcBef>
            <a:spcAft>
              <a:spcPct val="35000"/>
            </a:spcAft>
            <a:buNone/>
          </a:pPr>
          <a:r>
            <a:rPr lang="en-US" sz="1900" b="1" i="0" kern="1200" baseline="0" dirty="0"/>
            <a:t>Password Protection:</a:t>
          </a:r>
          <a:r>
            <a:rPr lang="en-US" sz="1900" b="0" i="0" kern="1200" baseline="0" dirty="0"/>
            <a:t> My website hashes all passwords with </a:t>
          </a:r>
          <a:r>
            <a:rPr lang="en-US" sz="1900" b="0" i="0" kern="1200" baseline="0" dirty="0" err="1"/>
            <a:t>Bcrypt</a:t>
          </a:r>
          <a:r>
            <a:rPr lang="en-US" sz="1900" b="0" i="0" kern="1200" baseline="0" dirty="0"/>
            <a:t>, so if a password is wrong or stolen, a hacker cannot see the real password.</a:t>
          </a:r>
          <a:endParaRPr lang="en-US" sz="1900" kern="1200" dirty="0"/>
        </a:p>
      </dsp:txBody>
      <dsp:txXfrm>
        <a:off x="1057183" y="1805"/>
        <a:ext cx="9458416" cy="915310"/>
      </dsp:txXfrm>
    </dsp:sp>
    <dsp:sp modelId="{87C5A557-9B0A-4710-B9B8-3E88BA370E57}">
      <dsp:nvSpPr>
        <dsp:cNvPr id="0" name=""/>
        <dsp:cNvSpPr/>
      </dsp:nvSpPr>
      <dsp:spPr>
        <a:xfrm>
          <a:off x="0" y="1145944"/>
          <a:ext cx="10515600" cy="91531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FB006C-5007-453D-AB20-1A3139C61958}">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03DD4C-CF50-4894-BA89-B4C587B21286}">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100000"/>
            </a:lnSpc>
            <a:spcBef>
              <a:spcPct val="0"/>
            </a:spcBef>
            <a:spcAft>
              <a:spcPct val="35000"/>
            </a:spcAft>
            <a:buNone/>
          </a:pPr>
          <a:r>
            <a:rPr lang="en-US" sz="1900" b="1" i="0" kern="1200" baseline="0"/>
            <a:t>Access Control:</a:t>
          </a:r>
          <a:r>
            <a:rPr lang="en-US" sz="1900" b="0" i="0" kern="1200" baseline="0"/>
            <a:t> Only verified users with the correct role (Student or Admin) can access their pages; if you’re not authorized, the system redirects you, preventing access to others’ data.</a:t>
          </a:r>
          <a:endParaRPr lang="en-US" sz="1900" kern="1200"/>
        </a:p>
      </dsp:txBody>
      <dsp:txXfrm>
        <a:off x="1057183" y="1145944"/>
        <a:ext cx="9458416" cy="915310"/>
      </dsp:txXfrm>
    </dsp:sp>
    <dsp:sp modelId="{4866EB08-7F12-4E0E-840A-0DF5FC06C72C}">
      <dsp:nvSpPr>
        <dsp:cNvPr id="0" name=""/>
        <dsp:cNvSpPr/>
      </dsp:nvSpPr>
      <dsp:spPr>
        <a:xfrm>
          <a:off x="0" y="2290082"/>
          <a:ext cx="10515600" cy="91531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700A28-3CC1-4A6B-BBC6-AA7CC453226D}">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8B2305-C4EB-4EC6-978C-36476A5CA42D}">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100000"/>
            </a:lnSpc>
            <a:spcBef>
              <a:spcPct val="0"/>
            </a:spcBef>
            <a:spcAft>
              <a:spcPct val="35000"/>
            </a:spcAft>
            <a:buNone/>
          </a:pPr>
          <a:r>
            <a:rPr lang="en-US" sz="1900" b="1" i="0" kern="1200" baseline="0"/>
            <a:t>SQL Injection Prevention:</a:t>
          </a:r>
          <a:r>
            <a:rPr lang="en-US" sz="1900" b="0" i="0" kern="1200" baseline="0"/>
            <a:t> All user input is separated from SQL commands using prepared statements, so a hacker cannot type commands to view or delete student records.</a:t>
          </a:r>
          <a:endParaRPr lang="en-US" sz="1900" kern="1200"/>
        </a:p>
      </dsp:txBody>
      <dsp:txXfrm>
        <a:off x="1057183" y="2290082"/>
        <a:ext cx="9458416" cy="915310"/>
      </dsp:txXfrm>
    </dsp:sp>
    <dsp:sp modelId="{F460680D-6D1D-4DAE-880A-22DDA5D2ED80}">
      <dsp:nvSpPr>
        <dsp:cNvPr id="0" name=""/>
        <dsp:cNvSpPr/>
      </dsp:nvSpPr>
      <dsp:spPr>
        <a:xfrm>
          <a:off x="0" y="3434221"/>
          <a:ext cx="10515600" cy="91531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B1868-6FB7-4933-9B99-B13189BD7C69}">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E2114D-8EA5-4787-AD21-7DAAAA89E254}">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100000"/>
            </a:lnSpc>
            <a:spcBef>
              <a:spcPct val="0"/>
            </a:spcBef>
            <a:spcAft>
              <a:spcPct val="35000"/>
            </a:spcAft>
            <a:buNone/>
          </a:pPr>
          <a:r>
            <a:rPr lang="en-US" sz="1900" b="1" i="0" kern="1200" baseline="0"/>
            <a:t>Session &amp; Token Security:</a:t>
          </a:r>
          <a:r>
            <a:rPr lang="en-US" sz="1900" b="0" i="0" kern="1200" baseline="0"/>
            <a:t> Password resets and sessions use unique, expiring tokens, ensuring that hackers cannot reuse old links or hijack logged-in accounts</a:t>
          </a:r>
          <a:endParaRPr lang="en-US" sz="1900" kern="1200"/>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523B-7879-413D-B974-4EA8BAD8717A}"/>
              </a:ext>
            </a:extLst>
          </p:cNvPr>
          <p:cNvSpPr>
            <a:spLocks noGrp="1"/>
          </p:cNvSpPr>
          <p:nvPr>
            <p:ph type="ctrTitle"/>
          </p:nvPr>
        </p:nvSpPr>
        <p:spPr>
          <a:xfrm>
            <a:off x="1524000" y="1122363"/>
            <a:ext cx="9144000" cy="2387600"/>
          </a:xfrm>
        </p:spPr>
        <p:txBody>
          <a:bodyPr anchor="b"/>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8425677C-C4F4-4003-8081-2CA323FE8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EBDFB6-B844-410B-871F-A9547EC777E1}"/>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F125EE92-8782-4771-BBA2-385EC3B1C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C773E-0593-4E3E-A921-36876FFE5ABB}"/>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9C71CC2-94AB-45BF-B83B-6D0466401FA9}"/>
              </a:ext>
            </a:extLst>
          </p:cNvPr>
          <p:cNvPicPr>
            <a:picLocks noChangeAspect="1"/>
          </p:cNvPicPr>
          <p:nvPr userDrawn="1"/>
        </p:nvPicPr>
        <p:blipFill>
          <a:blip r:embed="rId2">
            <a:alphaModFix amt="65000"/>
            <a:extLst>
              <a:ext uri="{28A0092B-C50C-407E-A947-70E740481C1C}">
                <a14:useLocalDpi xmlns:a14="http://schemas.microsoft.com/office/drawing/2010/main" val="0"/>
              </a:ext>
            </a:extLst>
          </a:blip>
          <a:stretch>
            <a:fillRect/>
          </a:stretch>
        </p:blipFill>
        <p:spPr>
          <a:xfrm>
            <a:off x="4927011" y="4160648"/>
            <a:ext cx="2337977" cy="2094067"/>
          </a:xfrm>
          <a:prstGeom prst="rect">
            <a:avLst/>
          </a:prstGeom>
        </p:spPr>
      </p:pic>
    </p:spTree>
    <p:extLst>
      <p:ext uri="{BB962C8B-B14F-4D97-AF65-F5344CB8AC3E}">
        <p14:creationId xmlns:p14="http://schemas.microsoft.com/office/powerpoint/2010/main" val="26123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E9E-2EAE-47F7-9BCF-8CE6618938C9}"/>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0DA83C7-1BAA-4632-825D-9DCD8B8E6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41AA-741F-4EC6-A497-D1DEB1011FD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5366A5DD-EB46-4E38-9B93-2ED8D93DF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B6A07-A0C0-4565-90CD-83F9F70E5348}"/>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30AFC61-666A-4D08-AE3C-1B79355EEE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00905" y="6176962"/>
            <a:ext cx="760362" cy="681037"/>
          </a:xfrm>
          <a:prstGeom prst="rect">
            <a:avLst/>
          </a:prstGeom>
        </p:spPr>
      </p:pic>
    </p:spTree>
    <p:extLst>
      <p:ext uri="{BB962C8B-B14F-4D97-AF65-F5344CB8AC3E}">
        <p14:creationId xmlns:p14="http://schemas.microsoft.com/office/powerpoint/2010/main" val="40957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1F54-45A7-436C-80E0-91459F5EB1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56C5C-9625-46C6-8DA5-CF58A2EE5F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1E8-BC8F-4753-ADB3-A0C48167311C}"/>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2A239F8A-1350-48EF-BD37-666B5D1EF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9524A-BFD0-4E76-8617-E50C51C351AA}"/>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9345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E11-2AFB-47A4-890C-4991DBBD2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517F6-26BF-477B-80F4-8E1AF6645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06272-9F06-4612-8B6C-5BF50CEC5F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C4EC-9929-4DCE-8A0D-128E9BE0D9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1CEDA14C-6B80-472E-AE8A-5D71B925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0449-5253-4B20-A1CC-AC3677333F4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05988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58E8-F72B-4C5B-B31E-C39070112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EA8A5-4B13-4A06-872D-F1A323262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C7779-F8D2-4F64-8095-FDFC56CDB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13D80E-A482-4598-B0B0-6FEE61ED8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45DEA-EBE2-463A-92B3-156809288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2383A-BEA2-439D-9016-2DE5062144BB}"/>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8" name="Footer Placeholder 7">
            <a:extLst>
              <a:ext uri="{FF2B5EF4-FFF2-40B4-BE49-F238E27FC236}">
                <a16:creationId xmlns:a16="http://schemas.microsoft.com/office/drawing/2014/main" id="{00DF060A-F869-4CFC-BEC9-436E45FD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742A3-A4B8-4F34-A226-2F317C64C61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4231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7E50-68E4-4AEB-AD2D-D5ED555A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69AFB-C8BF-4C66-A4EA-4147AED45409}"/>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4" name="Footer Placeholder 3">
            <a:extLst>
              <a:ext uri="{FF2B5EF4-FFF2-40B4-BE49-F238E27FC236}">
                <a16:creationId xmlns:a16="http://schemas.microsoft.com/office/drawing/2014/main" id="{5C105508-0742-43E9-BA29-7E405D3D4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C142E-3D1A-427B-BA6B-7A453D4ED1FB}"/>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7169170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004DB-86FF-4B67-B3C9-DC35E0ECD4E4}"/>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3" name="Footer Placeholder 2">
            <a:extLst>
              <a:ext uri="{FF2B5EF4-FFF2-40B4-BE49-F238E27FC236}">
                <a16:creationId xmlns:a16="http://schemas.microsoft.com/office/drawing/2014/main" id="{D86352AE-C1A3-4B2F-8F0B-8EABFF9C5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6BA80-BCAF-48E5-8D07-8A059E56039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51640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035-D8A0-4FC2-8F79-526FBF59B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F7B67-0FB4-4620-BBDF-658857E7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D8C51-DF6F-46A4-9232-C95714472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C53C-DB51-4743-9D99-B8CD2B2524A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64DBC3D-49AC-4011-B820-F3F7EA51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B0DDC-539E-4D00-84DA-89041EC6425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4447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BBC2-B05A-46ED-A241-BA9E3E8802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BAD30-E81E-48D0-B564-9BBAA4409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80F4405-7CFA-4985-B5B7-6189705A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C5395-E644-4646-8327-ED7327EE59E7}"/>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70660FA-4807-411B-BA30-E201D8286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283C1-EF9F-4823-A56C-8799FE4DC97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98470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838-557A-4543-B7AE-4E7E629898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3BF8E1-259C-46CA-B233-0F947B7C7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DB938-4651-49A6-AD85-87C5B7F2D9F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A04DE878-AAF8-481F-9EB6-7B3F33BB3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2BD8B-7F3E-4F5D-A953-764469667066}"/>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25002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CDF4-4D7A-4375-A309-354D24F5A7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573EB7-28A0-4361-9CDB-35C28ADE8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F066A-E6EE-4F7B-8FC5-BE9B2CAB18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E8B6381A-C118-4E62-BF37-EA0EBD62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CEB07-AD06-45B6-9855-C8B2A45EE0A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41155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978F9-BCFE-4189-A0A8-446CC99C0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1A654-BA2D-4FB0-851C-76683F8C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C5A9-AB1C-4D1E-873E-AB223D54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1BA9A757-4B5D-46F4-872F-32AE4B103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CCE750-2D47-4D77-93E0-297723B38C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22ED-C147-4045-89CD-7A79E332317A}" type="slidenum">
              <a:rPr lang="en-US" smtClean="0"/>
              <a:t>‹#›</a:t>
            </a:fld>
            <a:endParaRPr lang="en-US"/>
          </a:p>
        </p:txBody>
      </p:sp>
      <p:pic>
        <p:nvPicPr>
          <p:cNvPr id="8" name="Picture 7">
            <a:extLst>
              <a:ext uri="{FF2B5EF4-FFF2-40B4-BE49-F238E27FC236}">
                <a16:creationId xmlns:a16="http://schemas.microsoft.com/office/drawing/2014/main" id="{09F43C55-1C86-4C11-A83E-15C62D4746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56"/>
            <a:ext cx="12192000" cy="298450"/>
          </a:xfrm>
          <a:prstGeom prst="rect">
            <a:avLst/>
          </a:prstGeom>
        </p:spPr>
      </p:pic>
    </p:spTree>
    <p:extLst>
      <p:ext uri="{BB962C8B-B14F-4D97-AF65-F5344CB8AC3E}">
        <p14:creationId xmlns:p14="http://schemas.microsoft.com/office/powerpoint/2010/main" val="4199795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169.239.251.102:341/~soukouratou.souleymane/FinalProject/" TargetMode="External"/><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hyperlink" Target="https://github.com/karim-Souleymane-Soukouratou/FinalProject.git" TargetMode="External"/><Relationship Id="rId4" Type="http://schemas.openxmlformats.org/officeDocument/2006/relationships/hyperlink" Target="https://drive.google.com/file/d/10li2OZ5sApYlqtOsBD9yNtg5hdEWL_b4/view?usp=sharin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9CD8-14E7-4A95-99DB-B02DBD937ACA}"/>
              </a:ext>
            </a:extLst>
          </p:cNvPr>
          <p:cNvSpPr>
            <a:spLocks noGrp="1"/>
          </p:cNvSpPr>
          <p:nvPr>
            <p:ph type="ctrTitle"/>
          </p:nvPr>
        </p:nvSpPr>
        <p:spPr>
          <a:xfrm>
            <a:off x="1109931" y="768680"/>
            <a:ext cx="10095781" cy="2387600"/>
          </a:xfrm>
        </p:spPr>
        <p:txBody>
          <a:bodyPr/>
          <a:lstStyle/>
          <a:p>
            <a:r>
              <a:rPr lang="en-US" dirty="0"/>
              <a:t>Soukouratou Karim Souleymane</a:t>
            </a:r>
          </a:p>
        </p:txBody>
      </p:sp>
      <p:sp>
        <p:nvSpPr>
          <p:cNvPr id="3" name="Subtitle 2">
            <a:extLst>
              <a:ext uri="{FF2B5EF4-FFF2-40B4-BE49-F238E27FC236}">
                <a16:creationId xmlns:a16="http://schemas.microsoft.com/office/drawing/2014/main" id="{ED535F16-4A24-4AED-8DB2-DAA4BCFBE2CF}"/>
              </a:ext>
            </a:extLst>
          </p:cNvPr>
          <p:cNvSpPr>
            <a:spLocks noGrp="1"/>
          </p:cNvSpPr>
          <p:nvPr>
            <p:ph type="subTitle" idx="1"/>
          </p:nvPr>
        </p:nvSpPr>
        <p:spPr/>
        <p:txBody>
          <a:bodyPr vert="horz" lIns="91440" tIns="45720" rIns="91440" bIns="45720" rtlCol="0" anchor="t">
            <a:normAutofit/>
          </a:bodyPr>
          <a:lstStyle/>
          <a:p>
            <a:r>
              <a:rPr lang="en-US" dirty="0"/>
              <a:t>Web Tech Summer 2025 Final Exams</a:t>
            </a:r>
          </a:p>
        </p:txBody>
      </p:sp>
    </p:spTree>
    <p:extLst>
      <p:ext uri="{BB962C8B-B14F-4D97-AF65-F5344CB8AC3E}">
        <p14:creationId xmlns:p14="http://schemas.microsoft.com/office/powerpoint/2010/main" val="174109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5CAFA-01D7-4C9A-B6E2-3E744EA7D38B}"/>
              </a:ext>
            </a:extLst>
          </p:cNvPr>
          <p:cNvSpPr>
            <a:spLocks noGrp="1"/>
          </p:cNvSpPr>
          <p:nvPr>
            <p:ph type="title"/>
          </p:nvPr>
        </p:nvSpPr>
        <p:spPr>
          <a:xfrm>
            <a:off x="839788" y="365125"/>
            <a:ext cx="10515600" cy="1325563"/>
          </a:xfrm>
        </p:spPr>
        <p:txBody>
          <a:bodyPr vert="horz" lIns="91440" tIns="45720" rIns="91440" bIns="45720" rtlCol="0" anchor="ctr">
            <a:normAutofit/>
          </a:bodyPr>
          <a:lstStyle/>
          <a:p>
            <a:r>
              <a:rPr lang="en-US" sz="2100" kern="1200" dirty="0">
                <a:latin typeface="+mj-lt"/>
                <a:ea typeface="+mj-ea"/>
                <a:cs typeface="+mj-cs"/>
              </a:rPr>
              <a:t>Soukouratou is developing a secure, data-driven web platform for </a:t>
            </a:r>
            <a:r>
              <a:rPr lang="en-US" sz="2100" b="1" kern="1200" dirty="0">
                <a:latin typeface="+mj-lt"/>
                <a:ea typeface="+mj-ea"/>
                <a:cs typeface="+mj-cs"/>
              </a:rPr>
              <a:t>ANAB Niger</a:t>
            </a:r>
            <a:r>
              <a:rPr lang="en-US" sz="2100" kern="1200" dirty="0">
                <a:latin typeface="+mj-lt"/>
                <a:ea typeface="+mj-ea"/>
                <a:cs typeface="+mj-cs"/>
              </a:rPr>
              <a:t> to digitize the student stipend process in Niger. The system eliminates the need for students to visit offices physically by providing remote bank verification and automated payment tracking. </a:t>
            </a:r>
          </a:p>
        </p:txBody>
      </p:sp>
      <p:pic>
        <p:nvPicPr>
          <p:cNvPr id="3" name="Picture 2" descr="A qr code with a white background&#10;&#10;AI-generated content may be incorrect.">
            <a:extLst>
              <a:ext uri="{FF2B5EF4-FFF2-40B4-BE49-F238E27FC236}">
                <a16:creationId xmlns:a16="http://schemas.microsoft.com/office/drawing/2014/main" id="{66CD2E2D-3BAD-204F-79E4-502BDB4FB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740" y="3221067"/>
            <a:ext cx="3164756" cy="3164756"/>
          </a:xfrm>
          <a:prstGeom prst="rect">
            <a:avLst/>
          </a:prstGeom>
          <a:noFill/>
        </p:spPr>
      </p:pic>
      <p:sp>
        <p:nvSpPr>
          <p:cNvPr id="7" name="TextBox 6">
            <a:extLst>
              <a:ext uri="{FF2B5EF4-FFF2-40B4-BE49-F238E27FC236}">
                <a16:creationId xmlns:a16="http://schemas.microsoft.com/office/drawing/2014/main" id="{03353CF2-10CA-9DB5-8366-1414B191DFB7}"/>
              </a:ext>
            </a:extLst>
          </p:cNvPr>
          <p:cNvSpPr txBox="1"/>
          <p:nvPr/>
        </p:nvSpPr>
        <p:spPr>
          <a:xfrm>
            <a:off x="759126" y="1895565"/>
            <a:ext cx="8936964" cy="823912"/>
          </a:xfrm>
          <a:prstGeom prst="rect">
            <a:avLst/>
          </a:prstGeom>
        </p:spPr>
        <p:txBody>
          <a:bodyPr vert="horz" lIns="91440" tIns="45720" rIns="91440" bIns="45720" rtlCol="0" anchor="b">
            <a:noAutofit/>
          </a:bodyPr>
          <a:lstStyle/>
          <a:p>
            <a:pPr marR="0">
              <a:lnSpc>
                <a:spcPct val="90000"/>
              </a:lnSpc>
              <a:spcBef>
                <a:spcPts val="1000"/>
              </a:spcBef>
              <a:spcAft>
                <a:spcPts val="0"/>
              </a:spcAft>
            </a:pPr>
            <a:r>
              <a:rPr lang="en-US" sz="1200" b="1" i="0" u="none" strike="noStrike" kern="1200" cap="none" dirty="0">
                <a:latin typeface="Times New Roman" panose="02020603050405020304" pitchFamily="18" charset="0"/>
                <a:cs typeface="Times New Roman" panose="02020603050405020304" pitchFamily="18" charset="0"/>
              </a:rPr>
              <a:t>IMPORTANT LINK: </a:t>
            </a:r>
          </a:p>
          <a:p>
            <a:pPr>
              <a:lnSpc>
                <a:spcPct val="90000"/>
              </a:lnSpc>
              <a:spcBef>
                <a:spcPts val="1000"/>
              </a:spcBef>
            </a:pPr>
            <a:r>
              <a:rPr lang="en-US" sz="1200" b="1" kern="1200" dirty="0">
                <a:latin typeface="Times New Roman" panose="02020603050405020304" pitchFamily="18" charset="0"/>
                <a:cs typeface="Times New Roman" panose="02020603050405020304" pitchFamily="18" charset="0"/>
              </a:rPr>
              <a:t>Website : </a:t>
            </a:r>
            <a:r>
              <a:rPr lang="en-US" sz="1200" b="1" kern="12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http://169.239.251.102:341/~soukouratou.souleymane/FinalProject/</a:t>
            </a:r>
            <a:br>
              <a:rPr lang="en-US" sz="1200" b="1" kern="1200" dirty="0">
                <a:latin typeface="Times New Roman" panose="02020603050405020304" pitchFamily="18" charset="0"/>
                <a:cs typeface="Times New Roman" panose="02020603050405020304" pitchFamily="18" charset="0"/>
              </a:rPr>
            </a:br>
            <a:r>
              <a:rPr lang="en-US" sz="1200" b="1" kern="1200" dirty="0">
                <a:latin typeface="Times New Roman" panose="02020603050405020304" pitchFamily="18" charset="0"/>
                <a:cs typeface="Times New Roman" panose="02020603050405020304" pitchFamily="18" charset="0"/>
              </a:rPr>
              <a:t>Demo video: </a:t>
            </a:r>
            <a:r>
              <a:rPr lang="en-US" sz="1200" b="1" kern="12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https://drive.google.com/file/d/10li2OZ5sApYlqtOsBD9yNtg5hdEWL_b4/view?usp=sharing</a:t>
            </a:r>
            <a:r>
              <a:rPr lang="en-US" sz="1200" b="1" kern="1200" dirty="0">
                <a:latin typeface="Times New Roman" panose="02020603050405020304" pitchFamily="18" charset="0"/>
                <a:cs typeface="Times New Roman" panose="02020603050405020304" pitchFamily="18" charset="0"/>
              </a:rPr>
              <a:t> </a:t>
            </a:r>
            <a:endParaRPr lang="en-US" sz="1200" b="1" i="1" kern="1200" dirty="0">
              <a:latin typeface="Times New Roman" panose="02020603050405020304" pitchFamily="18" charset="0"/>
              <a:cs typeface="Times New Roman" panose="02020603050405020304" pitchFamily="18" charset="0"/>
            </a:endParaRPr>
          </a:p>
          <a:p>
            <a:pPr>
              <a:lnSpc>
                <a:spcPct val="90000"/>
              </a:lnSpc>
              <a:spcBef>
                <a:spcPts val="1000"/>
              </a:spcBef>
            </a:pPr>
            <a:r>
              <a:rPr lang="en-US" sz="1200" b="1" i="1" kern="1200" dirty="0" err="1">
                <a:latin typeface="Times New Roman" panose="02020603050405020304" pitchFamily="18" charset="0"/>
                <a:cs typeface="Times New Roman" panose="02020603050405020304" pitchFamily="18" charset="0"/>
              </a:rPr>
              <a:t>Gitub</a:t>
            </a:r>
            <a:r>
              <a:rPr lang="en-US" sz="1200" b="1" i="1" kern="1200" dirty="0">
                <a:latin typeface="Times New Roman" panose="02020603050405020304" pitchFamily="18" charset="0"/>
                <a:cs typeface="Times New Roman" panose="02020603050405020304" pitchFamily="18" charset="0"/>
              </a:rPr>
              <a:t> repository: </a:t>
            </a:r>
            <a:r>
              <a:rPr lang="en-US" sz="1200" b="1" i="1" kern="12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https://github.com/karim-Souleymane-Soukouratou/FinalProject.git</a:t>
            </a:r>
            <a:r>
              <a:rPr lang="en-US" sz="1200" b="1" i="1" kern="1200" dirty="0">
                <a:latin typeface="Times New Roman" panose="02020603050405020304" pitchFamily="18" charset="0"/>
                <a:cs typeface="Times New Roman" panose="02020603050405020304" pitchFamily="18" charset="0"/>
              </a:rPr>
              <a:t> </a:t>
            </a:r>
            <a:endParaRPr lang="en-US" sz="1200" b="1" kern="1200" dirty="0">
              <a:latin typeface="Times New Roman" panose="02020603050405020304" pitchFamily="18" charset="0"/>
              <a:cs typeface="Times New Roman" panose="02020603050405020304" pitchFamily="18" charset="0"/>
            </a:endParaRPr>
          </a:p>
        </p:txBody>
      </p:sp>
      <p:sp>
        <p:nvSpPr>
          <p:cNvPr id="9" name="Text Placeholder 2">
            <a:extLst>
              <a:ext uri="{FF2B5EF4-FFF2-40B4-BE49-F238E27FC236}">
                <a16:creationId xmlns:a16="http://schemas.microsoft.com/office/drawing/2014/main" id="{E8ED7AE9-F1AD-4DAF-AD81-ED38A088D24C}"/>
              </a:ext>
            </a:extLst>
          </p:cNvPr>
          <p:cNvSpPr>
            <a:spLocks noGrp="1"/>
          </p:cNvSpPr>
          <p:nvPr>
            <p:ph sz="quarter" idx="4"/>
          </p:nvPr>
        </p:nvSpPr>
        <p:spPr>
          <a:xfrm>
            <a:off x="5822830" y="2924355"/>
            <a:ext cx="5532558" cy="3265308"/>
          </a:xfrm>
        </p:spPr>
        <p:txBody>
          <a:bodyPr vert="horz" lIns="91440" tIns="45720" rIns="91440" bIns="45720" rtlCol="0">
            <a:normAutofit/>
          </a:bodyPr>
          <a:lstStyle/>
          <a:p>
            <a:r>
              <a:rPr lang="en-US" dirty="0"/>
              <a:t>E-Bourse is a digital platform designed to automate the management and disbursement of student scholarships and stipends. It represents the </a:t>
            </a:r>
            <a:r>
              <a:rPr lang="en-US" b="1" dirty="0"/>
              <a:t>ANAB Niger</a:t>
            </a:r>
            <a:r>
              <a:rPr lang="en-US" dirty="0"/>
              <a:t> transition from a paper-based, physical office system to a modern, data-driven financial portal.</a:t>
            </a:r>
          </a:p>
          <a:p>
            <a:endParaRPr lang="en-US" dirty="0"/>
          </a:p>
        </p:txBody>
      </p:sp>
    </p:spTree>
    <p:extLst>
      <p:ext uri="{BB962C8B-B14F-4D97-AF65-F5344CB8AC3E}">
        <p14:creationId xmlns:p14="http://schemas.microsoft.com/office/powerpoint/2010/main" val="223872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23;p26">
            <a:extLst>
              <a:ext uri="{FF2B5EF4-FFF2-40B4-BE49-F238E27FC236}">
                <a16:creationId xmlns:a16="http://schemas.microsoft.com/office/drawing/2014/main" id="{57EC8ECB-684B-4A65-B563-F2A77E7CD0CA}"/>
              </a:ext>
            </a:extLst>
          </p:cNvPr>
          <p:cNvSpPr/>
          <p:nvPr/>
        </p:nvSpPr>
        <p:spPr>
          <a:xfrm>
            <a:off x="5356888" y="4159076"/>
            <a:ext cx="3494100" cy="19464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24;p26">
            <a:extLst>
              <a:ext uri="{FF2B5EF4-FFF2-40B4-BE49-F238E27FC236}">
                <a16:creationId xmlns:a16="http://schemas.microsoft.com/office/drawing/2014/main" id="{45854F39-C3A4-489F-B694-859EFBCDAE4E}"/>
              </a:ext>
            </a:extLst>
          </p:cNvPr>
          <p:cNvSpPr txBox="1"/>
          <p:nvPr/>
        </p:nvSpPr>
        <p:spPr>
          <a:xfrm>
            <a:off x="5507014" y="4307275"/>
            <a:ext cx="3378900" cy="1561500"/>
          </a:xfrm>
          <a:prstGeom prst="rect">
            <a:avLst/>
          </a:prstGeom>
          <a:solidFill>
            <a:schemeClr val="lt1">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PAYOFF: </a:t>
            </a:r>
            <a:r>
              <a:rPr lang="en-US" sz="1200" i="1" dirty="0">
                <a:solidFill>
                  <a:schemeClr val="dk1"/>
                </a:solidFill>
                <a:latin typeface="Calibri"/>
                <a:ea typeface="Calibri"/>
                <a:cs typeface="Calibri"/>
                <a:sym typeface="Calibri"/>
              </a:rPr>
              <a:t>What is a simple drawn screen that is illustrative of something the website shows that helps solve the problem.  It is likely a report or some results of data entered by the participants.  </a:t>
            </a:r>
            <a:r>
              <a:rPr lang="en-US" sz="1200" b="1" i="1" dirty="0">
                <a:solidFill>
                  <a:schemeClr val="dk1"/>
                </a:solidFill>
                <a:latin typeface="Calibri"/>
                <a:ea typeface="Calibri"/>
                <a:cs typeface="Calibri"/>
                <a:sym typeface="Calibri"/>
              </a:rPr>
              <a:t>This is the most important square</a:t>
            </a:r>
            <a:endParaRPr sz="1200" dirty="0">
              <a:solidFill>
                <a:schemeClr val="dk1"/>
              </a:solidFill>
              <a:latin typeface="Calibri"/>
              <a:ea typeface="Calibri"/>
              <a:cs typeface="Calibri"/>
              <a:sym typeface="Calibri"/>
            </a:endParaRPr>
          </a:p>
        </p:txBody>
      </p:sp>
      <p:sp>
        <p:nvSpPr>
          <p:cNvPr id="9" name="Google Shape;125;p26">
            <a:extLst>
              <a:ext uri="{FF2B5EF4-FFF2-40B4-BE49-F238E27FC236}">
                <a16:creationId xmlns:a16="http://schemas.microsoft.com/office/drawing/2014/main" id="{2EB20A92-289A-4F1B-83EA-557EBD087A84}"/>
              </a:ext>
            </a:extLst>
          </p:cNvPr>
          <p:cNvSpPr/>
          <p:nvPr/>
        </p:nvSpPr>
        <p:spPr>
          <a:xfrm>
            <a:off x="613950" y="42976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126;p26">
            <a:extLst>
              <a:ext uri="{FF2B5EF4-FFF2-40B4-BE49-F238E27FC236}">
                <a16:creationId xmlns:a16="http://schemas.microsoft.com/office/drawing/2014/main" id="{B6422191-D8D6-4EF8-AD22-99BAE3525359}"/>
              </a:ext>
            </a:extLst>
          </p:cNvPr>
          <p:cNvSpPr/>
          <p:nvPr/>
        </p:nvSpPr>
        <p:spPr>
          <a:xfrm>
            <a:off x="2985425" y="42975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27;p26">
            <a:extLst>
              <a:ext uri="{FF2B5EF4-FFF2-40B4-BE49-F238E27FC236}">
                <a16:creationId xmlns:a16="http://schemas.microsoft.com/office/drawing/2014/main" id="{ECAEDEC5-3BA7-4814-897E-199FE3D53B02}"/>
              </a:ext>
            </a:extLst>
          </p:cNvPr>
          <p:cNvSpPr/>
          <p:nvPr/>
        </p:nvSpPr>
        <p:spPr>
          <a:xfrm>
            <a:off x="8875950" y="42975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28;p26">
            <a:extLst>
              <a:ext uri="{FF2B5EF4-FFF2-40B4-BE49-F238E27FC236}">
                <a16:creationId xmlns:a16="http://schemas.microsoft.com/office/drawing/2014/main" id="{B0376552-4BDD-431F-A63E-87A711EAE56C}"/>
              </a:ext>
            </a:extLst>
          </p:cNvPr>
          <p:cNvSpPr txBox="1">
            <a:spLocks/>
          </p:cNvSpPr>
          <p:nvPr/>
        </p:nvSpPr>
        <p:spPr>
          <a:xfrm>
            <a:off x="1053569" y="605657"/>
            <a:ext cx="4537494" cy="852488"/>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buFont typeface="Calibri"/>
              <a:buNone/>
            </a:pPr>
            <a:r>
              <a:rPr lang="en-US" dirty="0">
                <a:solidFill>
                  <a:schemeClr val="dk1"/>
                </a:solidFill>
                <a:latin typeface="Calibri"/>
                <a:ea typeface="Calibri"/>
                <a:cs typeface="Calibri"/>
                <a:sym typeface="Calibri"/>
              </a:rPr>
              <a:t>E-Bourse</a:t>
            </a:r>
          </a:p>
        </p:txBody>
      </p:sp>
      <p:sp>
        <p:nvSpPr>
          <p:cNvPr id="17" name="Google Shape;129;p26">
            <a:extLst>
              <a:ext uri="{FF2B5EF4-FFF2-40B4-BE49-F238E27FC236}">
                <a16:creationId xmlns:a16="http://schemas.microsoft.com/office/drawing/2014/main" id="{70D74D4C-F466-4D68-B611-FB3F56811959}"/>
              </a:ext>
            </a:extLst>
          </p:cNvPr>
          <p:cNvSpPr/>
          <p:nvPr/>
        </p:nvSpPr>
        <p:spPr>
          <a:xfrm>
            <a:off x="613950"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ddd</a:t>
            </a:r>
            <a:endParaRPr sz="1800" b="0" i="0" u="none" strike="noStrike" cap="none">
              <a:solidFill>
                <a:schemeClr val="lt1"/>
              </a:solidFill>
              <a:latin typeface="Calibri"/>
              <a:ea typeface="Calibri"/>
              <a:cs typeface="Calibri"/>
              <a:sym typeface="Calibri"/>
            </a:endParaRPr>
          </a:p>
        </p:txBody>
      </p:sp>
      <p:sp>
        <p:nvSpPr>
          <p:cNvPr id="19" name="Google Shape;130;p26">
            <a:extLst>
              <a:ext uri="{FF2B5EF4-FFF2-40B4-BE49-F238E27FC236}">
                <a16:creationId xmlns:a16="http://schemas.microsoft.com/office/drawing/2014/main" id="{89D1F58D-E1F6-4C92-A957-8FDF219B4EC6}"/>
              </a:ext>
            </a:extLst>
          </p:cNvPr>
          <p:cNvSpPr/>
          <p:nvPr/>
        </p:nvSpPr>
        <p:spPr>
          <a:xfrm>
            <a:off x="5342700" y="836025"/>
            <a:ext cx="3378900" cy="31845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131;p26">
            <a:extLst>
              <a:ext uri="{FF2B5EF4-FFF2-40B4-BE49-F238E27FC236}">
                <a16:creationId xmlns:a16="http://schemas.microsoft.com/office/drawing/2014/main" id="{72D1F283-2A04-4B78-8A09-3A40D4BBD068}"/>
              </a:ext>
            </a:extLst>
          </p:cNvPr>
          <p:cNvSpPr/>
          <p:nvPr/>
        </p:nvSpPr>
        <p:spPr>
          <a:xfrm>
            <a:off x="2978325"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132;p26">
            <a:extLst>
              <a:ext uri="{FF2B5EF4-FFF2-40B4-BE49-F238E27FC236}">
                <a16:creationId xmlns:a16="http://schemas.microsoft.com/office/drawing/2014/main" id="{362BD806-9FF3-4E4F-99B8-E69451D993A2}"/>
              </a:ext>
            </a:extLst>
          </p:cNvPr>
          <p:cNvSpPr/>
          <p:nvPr/>
        </p:nvSpPr>
        <p:spPr>
          <a:xfrm>
            <a:off x="8839280" y="1663433"/>
            <a:ext cx="2317200" cy="2372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133;p26">
            <a:extLst>
              <a:ext uri="{FF2B5EF4-FFF2-40B4-BE49-F238E27FC236}">
                <a16:creationId xmlns:a16="http://schemas.microsoft.com/office/drawing/2014/main" id="{3F4E89E7-ABA2-466A-B1F8-0CA4BEBEDA3D}"/>
              </a:ext>
            </a:extLst>
          </p:cNvPr>
          <p:cNvSpPr txBox="1"/>
          <p:nvPr/>
        </p:nvSpPr>
        <p:spPr>
          <a:xfrm>
            <a:off x="690550" y="4373101"/>
            <a:ext cx="2143800" cy="1259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PERSONA</a:t>
            </a:r>
            <a:r>
              <a:rPr lang="en-US" sz="1200" dirty="0">
                <a:solidFill>
                  <a:schemeClr val="dk1"/>
                </a:solidFill>
                <a:latin typeface="Calibri"/>
                <a:ea typeface="Calibri"/>
                <a:cs typeface="Calibri"/>
                <a:sym typeface="Calibri"/>
              </a:rPr>
              <a:t>(s) </a:t>
            </a:r>
            <a:r>
              <a:rPr lang="en-US" sz="1200" i="1" dirty="0">
                <a:solidFill>
                  <a:schemeClr val="dk1"/>
                </a:solidFill>
                <a:latin typeface="Calibri"/>
                <a:ea typeface="Calibri"/>
                <a:cs typeface="Calibri"/>
                <a:sym typeface="Calibri"/>
              </a:rPr>
              <a:t>who are the people involved in using the website and what are their background</a:t>
            </a:r>
            <a:endParaRPr sz="1200" i="1" dirty="0">
              <a:solidFill>
                <a:schemeClr val="dk1"/>
              </a:solidFill>
              <a:latin typeface="Calibri"/>
              <a:ea typeface="Calibri"/>
              <a:cs typeface="Calibri"/>
              <a:sym typeface="Calibri"/>
            </a:endParaRPr>
          </a:p>
        </p:txBody>
      </p:sp>
      <p:sp>
        <p:nvSpPr>
          <p:cNvPr id="27" name="Google Shape;134;p26">
            <a:extLst>
              <a:ext uri="{FF2B5EF4-FFF2-40B4-BE49-F238E27FC236}">
                <a16:creationId xmlns:a16="http://schemas.microsoft.com/office/drawing/2014/main" id="{7FCFFFAA-E5F2-46D8-8DAA-857512D7D290}"/>
              </a:ext>
            </a:extLst>
          </p:cNvPr>
          <p:cNvSpPr txBox="1"/>
          <p:nvPr/>
        </p:nvSpPr>
        <p:spPr>
          <a:xfrm>
            <a:off x="3015075" y="4297675"/>
            <a:ext cx="2144100" cy="166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PROBLEM:</a:t>
            </a:r>
            <a:r>
              <a:rPr lang="en-US" sz="1200" i="1" dirty="0" err="1">
                <a:solidFill>
                  <a:schemeClr val="dk1"/>
                </a:solidFill>
                <a:latin typeface="Calibri"/>
                <a:ea typeface="Calibri"/>
                <a:cs typeface="Calibri"/>
                <a:sym typeface="Calibri"/>
              </a:rPr>
              <a:t>What</a:t>
            </a:r>
            <a:r>
              <a:rPr lang="en-US" sz="1200" i="1" dirty="0">
                <a:solidFill>
                  <a:schemeClr val="dk1"/>
                </a:solidFill>
                <a:latin typeface="Calibri"/>
                <a:ea typeface="Calibri"/>
                <a:cs typeface="Calibri"/>
                <a:sym typeface="Calibri"/>
              </a:rPr>
              <a:t> is the problem the website will solve</a:t>
            </a:r>
            <a:endParaRPr sz="1200" dirty="0">
              <a:solidFill>
                <a:schemeClr val="dk1"/>
              </a:solidFill>
              <a:latin typeface="Calibri"/>
              <a:ea typeface="Calibri"/>
              <a:cs typeface="Calibri"/>
              <a:sym typeface="Calibri"/>
            </a:endParaRPr>
          </a:p>
        </p:txBody>
      </p:sp>
      <p:sp>
        <p:nvSpPr>
          <p:cNvPr id="29" name="Google Shape;135;p26">
            <a:extLst>
              <a:ext uri="{FF2B5EF4-FFF2-40B4-BE49-F238E27FC236}">
                <a16:creationId xmlns:a16="http://schemas.microsoft.com/office/drawing/2014/main" id="{663C807B-3501-4A1A-B45B-BCE89ED53D86}"/>
              </a:ext>
            </a:extLst>
          </p:cNvPr>
          <p:cNvSpPr txBox="1"/>
          <p:nvPr/>
        </p:nvSpPr>
        <p:spPr>
          <a:xfrm>
            <a:off x="9048701" y="4373101"/>
            <a:ext cx="1968496" cy="10356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FINISH</a:t>
            </a:r>
            <a:r>
              <a:rPr lang="en-US" sz="1200" i="1" dirty="0">
                <a:solidFill>
                  <a:schemeClr val="dk1"/>
                </a:solidFill>
                <a:latin typeface="Calibri"/>
                <a:ea typeface="Calibri"/>
                <a:cs typeface="Calibri"/>
                <a:sym typeface="Calibri"/>
              </a:rPr>
              <a:t>: Why are the users better off with the website than before.</a:t>
            </a:r>
          </a:p>
          <a:p>
            <a:pPr marL="0" marR="0" lvl="0" indent="0" algn="l" rtl="0">
              <a:spcBef>
                <a:spcPts val="0"/>
              </a:spcBef>
              <a:spcAft>
                <a:spcPts val="0"/>
              </a:spcAft>
              <a:buNone/>
            </a:pPr>
            <a:endParaRPr lang="en-US" sz="1200" i="1"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69AA6237-2308-9A8F-5120-2E4E6AC272EC}"/>
              </a:ext>
            </a:extLst>
          </p:cNvPr>
          <p:cNvSpPr txBox="1"/>
          <p:nvPr/>
        </p:nvSpPr>
        <p:spPr>
          <a:xfrm>
            <a:off x="690550" y="1889239"/>
            <a:ext cx="1988961" cy="1954381"/>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The website is used by </a:t>
            </a:r>
            <a:r>
              <a:rPr lang="en-US" sz="1100" b="1" dirty="0">
                <a:latin typeface="Times New Roman" panose="02020603050405020304" pitchFamily="18" charset="0"/>
                <a:cs typeface="Times New Roman" panose="02020603050405020304" pitchFamily="18" charset="0"/>
              </a:rPr>
              <a:t>students</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finance officers</a:t>
            </a:r>
            <a:r>
              <a:rPr lang="en-US" sz="1100" dirty="0">
                <a:latin typeface="Times New Roman" panose="02020603050405020304" pitchFamily="18" charset="0"/>
                <a:cs typeface="Times New Roman" panose="02020603050405020304" pitchFamily="18" charset="0"/>
              </a:rPr>
              <a:t>, and </a:t>
            </a:r>
            <a:r>
              <a:rPr lang="en-US" sz="1100" b="1" dirty="0">
                <a:latin typeface="Times New Roman" panose="02020603050405020304" pitchFamily="18" charset="0"/>
                <a:cs typeface="Times New Roman" panose="02020603050405020304" pitchFamily="18" charset="0"/>
              </a:rPr>
              <a:t>verification officers</a:t>
            </a:r>
            <a:r>
              <a:rPr lang="en-US" sz="1100" dirty="0">
                <a:latin typeface="Times New Roman" panose="02020603050405020304" pitchFamily="18" charset="0"/>
                <a:cs typeface="Times New Roman" panose="02020603050405020304" pitchFamily="18" charset="0"/>
              </a:rPr>
              <a:t>.</a:t>
            </a:r>
            <a:br>
              <a:rPr lang="en-US" sz="1100" dirty="0">
                <a:latin typeface="Times New Roman" panose="02020603050405020304" pitchFamily="18" charset="0"/>
                <a:cs typeface="Times New Roman" panose="02020603050405020304" pitchFamily="18" charset="0"/>
              </a:rPr>
            </a:br>
            <a:r>
              <a:rPr lang="en-US" sz="1100" dirty="0">
                <a:latin typeface="Times New Roman" panose="02020603050405020304" pitchFamily="18" charset="0"/>
                <a:cs typeface="Times New Roman" panose="02020603050405020304" pitchFamily="18" charset="0"/>
              </a:rPr>
              <a:t>Students are high school or university scholars in Niger or abroad, while finance officers are professionals in accounting or public administration.</a:t>
            </a:r>
            <a:br>
              <a:rPr lang="en-US" sz="1100" dirty="0">
                <a:latin typeface="Times New Roman" panose="02020603050405020304" pitchFamily="18" charset="0"/>
                <a:cs typeface="Times New Roman" panose="02020603050405020304" pitchFamily="18" charset="0"/>
              </a:rPr>
            </a:br>
            <a:r>
              <a:rPr lang="en-US" sz="1100" dirty="0">
                <a:latin typeface="Times New Roman" panose="02020603050405020304" pitchFamily="18" charset="0"/>
                <a:cs typeface="Times New Roman" panose="02020603050405020304" pitchFamily="18" charset="0"/>
              </a:rPr>
              <a:t>Verification officers are ANAB staff responsible for compliance and fraud prevention.</a:t>
            </a:r>
          </a:p>
        </p:txBody>
      </p:sp>
      <p:sp>
        <p:nvSpPr>
          <p:cNvPr id="6" name="TextBox 5">
            <a:extLst>
              <a:ext uri="{FF2B5EF4-FFF2-40B4-BE49-F238E27FC236}">
                <a16:creationId xmlns:a16="http://schemas.microsoft.com/office/drawing/2014/main" id="{3EB65DF9-414D-9C61-D153-47EDFA51C3A4}"/>
              </a:ext>
            </a:extLst>
          </p:cNvPr>
          <p:cNvSpPr txBox="1"/>
          <p:nvPr/>
        </p:nvSpPr>
        <p:spPr>
          <a:xfrm>
            <a:off x="3131821" y="1889239"/>
            <a:ext cx="1910608" cy="1954381"/>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The website solves the problem of </a:t>
            </a:r>
            <a:r>
              <a:rPr lang="en-US" sz="1100" b="1" dirty="0">
                <a:latin typeface="Times New Roman" panose="02020603050405020304" pitchFamily="18" charset="0"/>
                <a:cs typeface="Times New Roman" panose="02020603050405020304" pitchFamily="18" charset="0"/>
              </a:rPr>
              <a:t>inefficient, manual, and </a:t>
            </a:r>
            <a:r>
              <a:rPr lang="en-US" sz="1100" b="1" dirty="0" err="1">
                <a:latin typeface="Times New Roman" panose="02020603050405020304" pitchFamily="18" charset="0"/>
                <a:cs typeface="Times New Roman" panose="02020603050405020304" pitchFamily="18" charset="0"/>
              </a:rPr>
              <a:t>centralised</a:t>
            </a:r>
            <a:r>
              <a:rPr lang="en-US" sz="1100" b="1" dirty="0">
                <a:latin typeface="Times New Roman" panose="02020603050405020304" pitchFamily="18" charset="0"/>
                <a:cs typeface="Times New Roman" panose="02020603050405020304" pitchFamily="18" charset="0"/>
              </a:rPr>
              <a:t> scholarship management</a:t>
            </a:r>
            <a:r>
              <a:rPr lang="en-US" sz="1100" dirty="0">
                <a:latin typeface="Times New Roman" panose="02020603050405020304" pitchFamily="18" charset="0"/>
                <a:cs typeface="Times New Roman" panose="02020603050405020304" pitchFamily="18" charset="0"/>
              </a:rPr>
              <a:t>.</a:t>
            </a:r>
            <a:br>
              <a:rPr lang="en-US" sz="1100" dirty="0">
                <a:latin typeface="Times New Roman" panose="02020603050405020304" pitchFamily="18" charset="0"/>
                <a:cs typeface="Times New Roman" panose="02020603050405020304" pitchFamily="18" charset="0"/>
              </a:rPr>
            </a:br>
            <a:r>
              <a:rPr lang="en-US" sz="1100" dirty="0">
                <a:latin typeface="Times New Roman" panose="02020603050405020304" pitchFamily="18" charset="0"/>
                <a:cs typeface="Times New Roman" panose="02020603050405020304" pitchFamily="18" charset="0"/>
              </a:rPr>
              <a:t>It reduces the need for students to travel to Niamey, </a:t>
            </a:r>
            <a:r>
              <a:rPr lang="en-US" sz="1100" dirty="0" err="1">
                <a:latin typeface="Times New Roman" panose="02020603050405020304" pitchFamily="18" charset="0"/>
                <a:cs typeface="Times New Roman" panose="02020603050405020304" pitchFamily="18" charset="0"/>
              </a:rPr>
              <a:t>minimises</a:t>
            </a:r>
            <a:r>
              <a:rPr lang="en-US" sz="1100" dirty="0">
                <a:latin typeface="Times New Roman" panose="02020603050405020304" pitchFamily="18" charset="0"/>
                <a:cs typeface="Times New Roman" panose="02020603050405020304" pitchFamily="18" charset="0"/>
              </a:rPr>
              <a:t> payment delays and human errors, and helps ANAB prevent fraud by </a:t>
            </a:r>
            <a:r>
              <a:rPr lang="en-US" sz="1100" dirty="0" err="1">
                <a:latin typeface="Times New Roman" panose="02020603050405020304" pitchFamily="18" charset="0"/>
                <a:cs typeface="Times New Roman" panose="02020603050405020304" pitchFamily="18" charset="0"/>
              </a:rPr>
              <a:t>digitising</a:t>
            </a:r>
            <a:r>
              <a:rPr lang="en-US" sz="1100" dirty="0">
                <a:latin typeface="Times New Roman" panose="02020603050405020304" pitchFamily="18" charset="0"/>
                <a:cs typeface="Times New Roman" panose="02020603050405020304" pitchFamily="18" charset="0"/>
              </a:rPr>
              <a:t> verification and payment processes.</a:t>
            </a:r>
          </a:p>
        </p:txBody>
      </p:sp>
      <p:sp>
        <p:nvSpPr>
          <p:cNvPr id="10" name="TextBox 9">
            <a:extLst>
              <a:ext uri="{FF2B5EF4-FFF2-40B4-BE49-F238E27FC236}">
                <a16:creationId xmlns:a16="http://schemas.microsoft.com/office/drawing/2014/main" id="{E7AC79D9-E2A1-8770-FFB7-3B436EE1BD1D}"/>
              </a:ext>
            </a:extLst>
          </p:cNvPr>
          <p:cNvSpPr txBox="1"/>
          <p:nvPr/>
        </p:nvSpPr>
        <p:spPr>
          <a:xfrm>
            <a:off x="8978563" y="1903230"/>
            <a:ext cx="2038634" cy="1615827"/>
          </a:xfrm>
          <a:prstGeom prst="rect">
            <a:avLst/>
          </a:prstGeom>
          <a:noFill/>
        </p:spPr>
        <p:txBody>
          <a:bodyPr wrap="square">
            <a:spAutoFit/>
          </a:bodyPr>
          <a:lstStyle/>
          <a:p>
            <a:pPr lvl="0"/>
            <a:r>
              <a:rPr lang="en-US" sz="1100" dirty="0">
                <a:solidFill>
                  <a:schemeClr val="dk1"/>
                </a:solidFill>
                <a:latin typeface="Times New Roman" panose="02020603050405020304" pitchFamily="18" charset="0"/>
                <a:ea typeface="Calibri"/>
                <a:cs typeface="Times New Roman" panose="02020603050405020304" pitchFamily="18" charset="0"/>
                <a:sym typeface="Calibri"/>
              </a:rPr>
              <a:t>Before this website, students had to go and queue up to get it. Additionally, because they distribute the stipends late, some students have already returned to their home region. Therefore, when planning for them, they must return; otherwise, they will not receive it. </a:t>
            </a:r>
          </a:p>
        </p:txBody>
      </p:sp>
      <p:pic>
        <p:nvPicPr>
          <p:cNvPr id="14" name="Picture 13" descr="A diagram of a student&#10;&#10;AI-generated content may be incorrect.">
            <a:extLst>
              <a:ext uri="{FF2B5EF4-FFF2-40B4-BE49-F238E27FC236}">
                <a16:creationId xmlns:a16="http://schemas.microsoft.com/office/drawing/2014/main" id="{4E951A16-BF9F-9602-ADC0-23193D6D4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1063" y="836025"/>
            <a:ext cx="2751827" cy="3261430"/>
          </a:xfrm>
          <a:prstGeom prst="rect">
            <a:avLst/>
          </a:prstGeom>
        </p:spPr>
      </p:pic>
    </p:spTree>
    <p:extLst>
      <p:ext uri="{BB962C8B-B14F-4D97-AF65-F5344CB8AC3E}">
        <p14:creationId xmlns:p14="http://schemas.microsoft.com/office/powerpoint/2010/main" val="307924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AAEF-FFFC-4D02-8E01-39733404A943}"/>
              </a:ext>
            </a:extLst>
          </p:cNvPr>
          <p:cNvSpPr>
            <a:spLocks noGrp="1"/>
          </p:cNvSpPr>
          <p:nvPr>
            <p:ph type="title"/>
          </p:nvPr>
        </p:nvSpPr>
        <p:spPr>
          <a:xfrm>
            <a:off x="2580736" y="434136"/>
            <a:ext cx="6709913" cy="1325563"/>
          </a:xfrm>
        </p:spPr>
        <p:txBody>
          <a:bodyPr/>
          <a:lstStyle/>
          <a:p>
            <a:r>
              <a:rPr lang="en-US" dirty="0"/>
              <a:t>User / Customer</a:t>
            </a:r>
          </a:p>
        </p:txBody>
      </p:sp>
      <p:sp>
        <p:nvSpPr>
          <p:cNvPr id="3" name="Content Placeholder 2">
            <a:extLst>
              <a:ext uri="{FF2B5EF4-FFF2-40B4-BE49-F238E27FC236}">
                <a16:creationId xmlns:a16="http://schemas.microsoft.com/office/drawing/2014/main" id="{95C42002-6CD1-4A60-B873-4164CDE4C052}"/>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website will be used by the </a:t>
            </a:r>
            <a:r>
              <a:rPr lang="en-US" sz="2400" b="1" dirty="0">
                <a:latin typeface="Times New Roman" panose="02020603050405020304" pitchFamily="18" charset="0"/>
                <a:cs typeface="Times New Roman" panose="02020603050405020304" pitchFamily="18" charset="0"/>
              </a:rPr>
              <a:t>Agence </a:t>
            </a:r>
            <a:r>
              <a:rPr lang="en-US" sz="2400" b="1" dirty="0" err="1">
                <a:latin typeface="Times New Roman" panose="02020603050405020304" pitchFamily="18" charset="0"/>
                <a:cs typeface="Times New Roman" panose="02020603050405020304" pitchFamily="18" charset="0"/>
              </a:rPr>
              <a:t>Nigérienne</a:t>
            </a:r>
            <a:r>
              <a:rPr lang="en-US" sz="2400" b="1" dirty="0">
                <a:latin typeface="Times New Roman" panose="02020603050405020304" pitchFamily="18" charset="0"/>
                <a:cs typeface="Times New Roman" panose="02020603050405020304" pitchFamily="18" charset="0"/>
              </a:rPr>
              <a:t> des Allocations et des Bourses (ANAB)</a:t>
            </a:r>
            <a:r>
              <a:rPr lang="en-US" sz="2400" dirty="0">
                <a:latin typeface="Times New Roman" panose="02020603050405020304" pitchFamily="18" charset="0"/>
                <a:cs typeface="Times New Roman" panose="02020603050405020304" pitchFamily="18" charset="0"/>
              </a:rPr>
              <a:t>, a public institution under Niger’s Ministry of Higher Education. ANAB’s purpose is to manage and distribute scholarships and financial aid to Nigeriens students studying locally and abroad. The website replaces manual, in-person processes with a digital service that enhances efficiency, transparency, and accessibility. </a:t>
            </a:r>
          </a:p>
          <a:p>
            <a:pPr marL="0" indent="0">
              <a:buNone/>
            </a:pPr>
            <a:r>
              <a:rPr lang="en-US" sz="2400" b="1" dirty="0">
                <a:latin typeface="Times New Roman" panose="02020603050405020304" pitchFamily="18" charset="0"/>
                <a:cs typeface="Times New Roman" panose="02020603050405020304" pitchFamily="18" charset="0"/>
              </a:rPr>
              <a:t>The platform serves </a:t>
            </a:r>
          </a:p>
          <a:p>
            <a:r>
              <a:rPr lang="en-US" sz="2400" b="1" dirty="0">
                <a:latin typeface="Times New Roman" panose="02020603050405020304" pitchFamily="18" charset="0"/>
                <a:cs typeface="Times New Roman" panose="02020603050405020304" pitchFamily="18" charset="0"/>
              </a:rPr>
              <a:t>Students: </a:t>
            </a:r>
            <a:r>
              <a:rPr lang="en-US" sz="2400" dirty="0">
                <a:latin typeface="Times New Roman" panose="02020603050405020304" pitchFamily="18" charset="0"/>
                <a:cs typeface="Times New Roman" panose="02020603050405020304" pitchFamily="18" charset="0"/>
              </a:rPr>
              <a:t>who activate their account, register bank details, and track payments online. </a:t>
            </a:r>
          </a:p>
          <a:p>
            <a:r>
              <a:rPr lang="en-US" sz="2400" b="1" dirty="0">
                <a:latin typeface="Times New Roman" panose="02020603050405020304" pitchFamily="18" charset="0"/>
                <a:cs typeface="Times New Roman" panose="02020603050405020304" pitchFamily="18" charset="0"/>
              </a:rPr>
              <a:t>ANAB staff: </a:t>
            </a:r>
            <a:r>
              <a:rPr lang="en-US" sz="2400" dirty="0">
                <a:latin typeface="Times New Roman" panose="02020603050405020304" pitchFamily="18" charset="0"/>
                <a:cs typeface="Times New Roman" panose="02020603050405020304" pitchFamily="18" charset="0"/>
              </a:rPr>
              <a:t>register students, insert them in the database, verify student information, manage payments, and oversee the system.</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497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30D1-743D-4000-9929-9878F282E703}"/>
              </a:ext>
            </a:extLst>
          </p:cNvPr>
          <p:cNvSpPr>
            <a:spLocks noGrp="1"/>
          </p:cNvSpPr>
          <p:nvPr>
            <p:ph type="title"/>
          </p:nvPr>
        </p:nvSpPr>
        <p:spPr/>
        <p:txBody>
          <a:bodyPr/>
          <a:lstStyle/>
          <a:p>
            <a:r>
              <a:rPr lang="en-US" dirty="0"/>
              <a:t>Main Functions of the Website</a:t>
            </a:r>
          </a:p>
        </p:txBody>
      </p:sp>
      <p:sp>
        <p:nvSpPr>
          <p:cNvPr id="3" name="Content Placeholder 2">
            <a:extLst>
              <a:ext uri="{FF2B5EF4-FFF2-40B4-BE49-F238E27FC236}">
                <a16:creationId xmlns:a16="http://schemas.microsoft.com/office/drawing/2014/main" id="{9F74E113-BC91-4D17-8467-AD7ACB6061A4}"/>
              </a:ext>
            </a:extLst>
          </p:cNvPr>
          <p:cNvSpPr>
            <a:spLocks noGrp="1"/>
          </p:cNvSpPr>
          <p:nvPr>
            <p:ph idx="1"/>
          </p:nvPr>
        </p:nvSpPr>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1. Remote Bank Detail Submission</a:t>
            </a:r>
          </a:p>
          <a:p>
            <a:pPr marL="0" indent="0">
              <a:buNone/>
            </a:pPr>
            <a:r>
              <a:rPr lang="en-US" sz="1800" dirty="0">
                <a:latin typeface="Times New Roman" panose="02020603050405020304" pitchFamily="18" charset="0"/>
                <a:cs typeface="Times New Roman" panose="02020603050405020304" pitchFamily="18" charset="0"/>
              </a:rPr>
              <a:t>Students securely upload their information and account numbers via their personal portal. No more travelling to the ANAB office to hand in a physical form to receive the stipend.</a:t>
            </a:r>
          </a:p>
          <a:p>
            <a:pPr marL="0" indent="0">
              <a:buNone/>
            </a:pPr>
            <a:r>
              <a:rPr lang="en-US" sz="1800" b="1" dirty="0">
                <a:latin typeface="Times New Roman" panose="02020603050405020304" pitchFamily="18" charset="0"/>
                <a:cs typeface="Times New Roman" panose="02020603050405020304" pitchFamily="18" charset="0"/>
              </a:rPr>
              <a:t>2. Digital Verification Queue</a:t>
            </a:r>
          </a:p>
          <a:p>
            <a:pPr marL="0" indent="0">
              <a:buNone/>
            </a:pPr>
            <a:r>
              <a:rPr lang="en-US" sz="1800" dirty="0">
                <a:latin typeface="Times New Roman" panose="02020603050405020304" pitchFamily="18" charset="0"/>
                <a:cs typeface="Times New Roman" panose="02020603050405020304" pitchFamily="18" charset="0"/>
              </a:rPr>
              <a:t>Admins use a dashboard to review, approve, or reject bank details in real-time. Replaces the manual, paper-based verification process at the front desk with a fast, digital approval workflow.</a:t>
            </a:r>
          </a:p>
          <a:p>
            <a:pPr marL="0" indent="0">
              <a:buNone/>
            </a:pPr>
            <a:r>
              <a:rPr lang="en-US" sz="1800" b="1" dirty="0">
                <a:latin typeface="Times New Roman" panose="02020603050405020304" pitchFamily="18" charset="0"/>
                <a:cs typeface="Times New Roman" panose="02020603050405020304" pitchFamily="18" charset="0"/>
              </a:rPr>
              <a:t>3. Automated Payment Batching (Payment Run)</a:t>
            </a:r>
          </a:p>
          <a:p>
            <a:pPr marL="0" indent="0">
              <a:buNone/>
            </a:pPr>
            <a:r>
              <a:rPr lang="en-US" sz="1800" dirty="0">
                <a:latin typeface="Times New Roman" panose="02020603050405020304" pitchFamily="18" charset="0"/>
                <a:cs typeface="Times New Roman" panose="02020603050405020304" pitchFamily="18" charset="0"/>
              </a:rPr>
              <a:t>The system automatically identifies all verified students and generates a single disbursement file for the bank. Eliminates the slow, manual creation of payment lists, reducing human error and speeding up stipend delivery.</a:t>
            </a:r>
          </a:p>
          <a:p>
            <a:pPr marL="0" indent="0">
              <a:buNone/>
            </a:pPr>
            <a:r>
              <a:rPr lang="en-US" sz="1800" b="1" dirty="0">
                <a:latin typeface="Times New Roman" panose="02020603050405020304" pitchFamily="18" charset="0"/>
                <a:cs typeface="Times New Roman" panose="02020603050405020304" pitchFamily="18" charset="0"/>
              </a:rPr>
              <a:t>4. Real-time Status Tracking</a:t>
            </a:r>
          </a:p>
          <a:p>
            <a:pPr marL="0" indent="0">
              <a:buNone/>
            </a:pPr>
            <a:r>
              <a:rPr lang="en-US" sz="1800" dirty="0">
                <a:latin typeface="Times New Roman" panose="02020603050405020304" pitchFamily="18" charset="0"/>
                <a:cs typeface="Times New Roman" panose="02020603050405020304" pitchFamily="18" charset="0"/>
              </a:rPr>
              <a:t>Students can log in to check if their payment is "Pending," "Scheduled," or "Paid.“ Stops students from visiting the office just to ask about the status of their money.</a:t>
            </a:r>
          </a:p>
        </p:txBody>
      </p:sp>
    </p:spTree>
    <p:extLst>
      <p:ext uri="{BB962C8B-B14F-4D97-AF65-F5344CB8AC3E}">
        <p14:creationId xmlns:p14="http://schemas.microsoft.com/office/powerpoint/2010/main" val="353737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8AC9D-727F-E911-3069-5F0FCC199C14}"/>
              </a:ext>
            </a:extLst>
          </p:cNvPr>
          <p:cNvSpPr>
            <a:spLocks noGrp="1"/>
          </p:cNvSpPr>
          <p:nvPr>
            <p:ph type="title"/>
          </p:nvPr>
        </p:nvSpPr>
        <p:spPr>
          <a:xfrm>
            <a:off x="838200" y="365125"/>
            <a:ext cx="10515600" cy="1325563"/>
          </a:xfrm>
        </p:spPr>
        <p:txBody>
          <a:bodyPr anchor="ctr">
            <a:normAutofit/>
          </a:bodyPr>
          <a:lstStyle/>
          <a:p>
            <a:r>
              <a:rPr lang="en-US" dirty="0"/>
              <a:t>Security </a:t>
            </a:r>
          </a:p>
        </p:txBody>
      </p:sp>
      <p:graphicFrame>
        <p:nvGraphicFramePr>
          <p:cNvPr id="16" name="Rectangle 2">
            <a:extLst>
              <a:ext uri="{FF2B5EF4-FFF2-40B4-BE49-F238E27FC236}">
                <a16:creationId xmlns:a16="http://schemas.microsoft.com/office/drawing/2014/main" id="{1757E198-2C19-5BF5-DB9F-F0AE45186739}"/>
              </a:ext>
            </a:extLst>
          </p:cNvPr>
          <p:cNvGraphicFramePr>
            <a:graphicFrameLocks noGrp="1"/>
          </p:cNvGraphicFramePr>
          <p:nvPr>
            <p:ph idx="1"/>
            <p:extLst>
              <p:ext uri="{D42A27DB-BD31-4B8C-83A1-F6EECF244321}">
                <p14:modId xmlns:p14="http://schemas.microsoft.com/office/powerpoint/2010/main" val="2643126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4810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A18-7093-430E-BD23-BCEBC00BC538}"/>
              </a:ext>
            </a:extLst>
          </p:cNvPr>
          <p:cNvSpPr>
            <a:spLocks noGrp="1"/>
          </p:cNvSpPr>
          <p:nvPr>
            <p:ph type="title"/>
          </p:nvPr>
        </p:nvSpPr>
        <p:spPr>
          <a:xfrm>
            <a:off x="838200" y="365125"/>
            <a:ext cx="10515600" cy="1325563"/>
          </a:xfrm>
        </p:spPr>
        <p:txBody>
          <a:bodyPr anchor="ctr">
            <a:normAutofit/>
          </a:bodyPr>
          <a:lstStyle/>
          <a:p>
            <a:r>
              <a:rPr lang="en-US" dirty="0"/>
              <a:t>Architecture</a:t>
            </a:r>
          </a:p>
        </p:txBody>
      </p:sp>
      <p:graphicFrame>
        <p:nvGraphicFramePr>
          <p:cNvPr id="7" name="Content Placeholder 6">
            <a:extLst>
              <a:ext uri="{FF2B5EF4-FFF2-40B4-BE49-F238E27FC236}">
                <a16:creationId xmlns:a16="http://schemas.microsoft.com/office/drawing/2014/main" id="{BC35B11B-BB33-F4BA-EEBD-CC2CAEEB12FD}"/>
              </a:ext>
            </a:extLst>
          </p:cNvPr>
          <p:cNvGraphicFramePr>
            <a:graphicFrameLocks noGrp="1"/>
          </p:cNvGraphicFramePr>
          <p:nvPr>
            <p:ph idx="1"/>
            <p:extLst>
              <p:ext uri="{D42A27DB-BD31-4B8C-83A1-F6EECF244321}">
                <p14:modId xmlns:p14="http://schemas.microsoft.com/office/powerpoint/2010/main" val="3686551295"/>
              </p:ext>
            </p:extLst>
          </p:nvPr>
        </p:nvGraphicFramePr>
        <p:xfrm>
          <a:off x="838200" y="2392690"/>
          <a:ext cx="10515602" cy="3217210"/>
        </p:xfrm>
        <a:graphic>
          <a:graphicData uri="http://schemas.openxmlformats.org/drawingml/2006/table">
            <a:tbl>
              <a:tblPr>
                <a:solidFill>
                  <a:schemeClr val="bg1"/>
                </a:solidFill>
              </a:tblPr>
              <a:tblGrid>
                <a:gridCol w="1975632">
                  <a:extLst>
                    <a:ext uri="{9D8B030D-6E8A-4147-A177-3AD203B41FA5}">
                      <a16:colId xmlns:a16="http://schemas.microsoft.com/office/drawing/2014/main" val="645514242"/>
                    </a:ext>
                  </a:extLst>
                </a:gridCol>
                <a:gridCol w="2179177">
                  <a:extLst>
                    <a:ext uri="{9D8B030D-6E8A-4147-A177-3AD203B41FA5}">
                      <a16:colId xmlns:a16="http://schemas.microsoft.com/office/drawing/2014/main" val="601998588"/>
                    </a:ext>
                  </a:extLst>
                </a:gridCol>
                <a:gridCol w="2060902">
                  <a:extLst>
                    <a:ext uri="{9D8B030D-6E8A-4147-A177-3AD203B41FA5}">
                      <a16:colId xmlns:a16="http://schemas.microsoft.com/office/drawing/2014/main" val="2087056680"/>
                    </a:ext>
                  </a:extLst>
                </a:gridCol>
                <a:gridCol w="4299891">
                  <a:extLst>
                    <a:ext uri="{9D8B030D-6E8A-4147-A177-3AD203B41FA5}">
                      <a16:colId xmlns:a16="http://schemas.microsoft.com/office/drawing/2014/main" val="1849138896"/>
                    </a:ext>
                  </a:extLst>
                </a:gridCol>
              </a:tblGrid>
              <a:tr h="645868">
                <a:tc>
                  <a:txBody>
                    <a:bodyPr/>
                    <a:lstStyle/>
                    <a:p>
                      <a:pPr>
                        <a:buNone/>
                      </a:pPr>
                      <a:r>
                        <a:rPr lang="en-US" sz="2100" cap="none" spc="0">
                          <a:solidFill>
                            <a:schemeClr val="tx1"/>
                          </a:solidFill>
                        </a:rPr>
                        <a:t>Tier</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What it Does</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Technologies</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Why</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0243482"/>
                  </a:ext>
                </a:extLst>
              </a:tr>
              <a:tr h="962737">
                <a:tc>
                  <a:txBody>
                    <a:bodyPr/>
                    <a:lstStyle/>
                    <a:p>
                      <a:pPr>
                        <a:buNone/>
                      </a:pPr>
                      <a:r>
                        <a:rPr lang="en-US" sz="2100" cap="none" spc="0">
                          <a:solidFill>
                            <a:schemeClr val="tx1"/>
                          </a:solidFill>
                        </a:rPr>
                        <a:t>Presentation Tier</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User interface (web pages)</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HTML, CSS, JavaScript</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Displays data and handles user interaction</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66330505"/>
                  </a:ext>
                </a:extLst>
              </a:tr>
              <a:tr h="962737">
                <a:tc>
                  <a:txBody>
                    <a:bodyPr/>
                    <a:lstStyle/>
                    <a:p>
                      <a:pPr>
                        <a:buNone/>
                      </a:pPr>
                      <a:r>
                        <a:rPr lang="en-US" sz="2100" cap="none" spc="0">
                          <a:solidFill>
                            <a:schemeClr val="tx1"/>
                          </a:solidFill>
                        </a:rPr>
                        <a:t>Application Tier</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Business logic and security </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PHP</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2100" cap="none" spc="0">
                          <a:solidFill>
                            <a:schemeClr val="tx1"/>
                          </a:solidFill>
                        </a:rPr>
                        <a:t>Processes requests and rules. Who Can  access what </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58895017"/>
                  </a:ext>
                </a:extLst>
              </a:tr>
              <a:tr h="645868">
                <a:tc>
                  <a:txBody>
                    <a:bodyPr/>
                    <a:lstStyle/>
                    <a:p>
                      <a:pPr>
                        <a:buNone/>
                      </a:pPr>
                      <a:r>
                        <a:rPr lang="en-US" sz="2100" cap="none" spc="0">
                          <a:solidFill>
                            <a:schemeClr val="tx1"/>
                          </a:solidFill>
                        </a:rPr>
                        <a:t>Data Tier</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100" cap="none" spc="0">
                          <a:solidFill>
                            <a:schemeClr val="tx1"/>
                          </a:solidFill>
                        </a:rPr>
                        <a:t>Stores data</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100" cap="none" spc="0">
                          <a:solidFill>
                            <a:schemeClr val="tx1"/>
                          </a:solidFill>
                        </a:rPr>
                        <a:t>MySQL</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2100" cap="none" spc="0">
                          <a:solidFill>
                            <a:schemeClr val="tx1"/>
                          </a:solidFill>
                        </a:rPr>
                        <a:t>Secure and reliable data storage</a:t>
                      </a:r>
                    </a:p>
                  </a:txBody>
                  <a:tcPr marL="172655" marR="132812" marT="132812" marB="132812"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4211505147"/>
                  </a:ext>
                </a:extLst>
              </a:tr>
            </a:tbl>
          </a:graphicData>
        </a:graphic>
      </p:graphicFrame>
    </p:spTree>
    <p:extLst>
      <p:ext uri="{BB962C8B-B14F-4D97-AF65-F5344CB8AC3E}">
        <p14:creationId xmlns:p14="http://schemas.microsoft.com/office/powerpoint/2010/main" val="212700912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923D41"/>
      </a:dk2>
      <a:lt2>
        <a:srgbClr val="AAC3EC"/>
      </a:lt2>
      <a:accent1>
        <a:srgbClr val="4472C4"/>
      </a:accent1>
      <a:accent2>
        <a:srgbClr val="C56728"/>
      </a:accent2>
      <a:accent3>
        <a:srgbClr val="A5A5A5"/>
      </a:accent3>
      <a:accent4>
        <a:srgbClr val="FFC000"/>
      </a:accent4>
      <a:accent5>
        <a:srgbClr val="5B9BD5"/>
      </a:accent5>
      <a:accent6>
        <a:srgbClr val="C09B7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3679034-79EA-4C15-9A71-1EF1E1074EAF}" vid="{7FD254AA-BBEA-4868-8697-6021C48FEDDC}"/>
    </a:ext>
  </a:extLst>
</a:theme>
</file>

<file path=docProps/app.xml><?xml version="1.0" encoding="utf-8"?>
<Properties xmlns="http://schemas.openxmlformats.org/officeDocument/2006/extended-properties" xmlns:vt="http://schemas.openxmlformats.org/officeDocument/2006/docPropsVTypes">
  <TotalTime>368</TotalTime>
  <Words>834</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Soukouratou Karim Souleymane</vt:lpstr>
      <vt:lpstr>Soukouratou is developing a secure, data-driven web platform for ANAB Niger to digitize the student stipend process in Niger. The system eliminates the need for students to visit offices physically by providing remote bank verification and automated payment tracking. </vt:lpstr>
      <vt:lpstr>PowerPoint Presentation</vt:lpstr>
      <vt:lpstr>User / Customer</vt:lpstr>
      <vt:lpstr>Main Functions of the Website</vt:lpstr>
      <vt:lpstr>Security </vt:lpstr>
      <vt:lpstr>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&lt;Letter&gt;</dc:title>
  <dc:creator>Todd Warren</dc:creator>
  <cp:lastModifiedBy>Soukouratou Karim Souleymane</cp:lastModifiedBy>
  <cp:revision>24</cp:revision>
  <dcterms:created xsi:type="dcterms:W3CDTF">2020-09-23T20:07:55Z</dcterms:created>
  <dcterms:modified xsi:type="dcterms:W3CDTF">2025-12-18T13:49:45Z</dcterms:modified>
</cp:coreProperties>
</file>